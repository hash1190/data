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Backstop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 Hosting Agreements — CIFR (Barber Lake) and WULF (Lake Mariner)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A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Mechanism, Economics, and Strategic Rationale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645920" cy="4114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4988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 |  Digital Assets Research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Backstop Mechanics: How the Structure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22376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886968"/>
            <a:ext cx="7900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Definition.  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backstop is a credit-support agreement under which a stronger third party (Google) agrees to make the tenant's lease payments to the landlord (CIFR or WULF) if the tenant (Fluidstack) fails to do so, up to a capped notional. In exchange, the backstopping party receives consideration — in this case, equity warrants in the landlord entity. The economic effect is to substitute the credit risk of the lease cashflows from the underlying tenant (Tier-2 neocloud) to the backstopper (investment-grade hyperscaler), enabling project-level debt issuance at materially tighter spreads than the neocloud's standalone credit would support.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DEFAULT FLOW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23774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AABB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12848"/>
            <a:ext cx="2377440" cy="329184"/>
          </a:xfrm>
          <a:prstGeom prst="rect">
            <a:avLst/>
          </a:prstGeom>
          <a:solidFill>
            <a:srgbClr val="334E6F"/>
          </a:solidFill>
          <a:ln w="12700">
            <a:solidFill>
              <a:srgbClr val="334E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  (Tenant)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2596896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obligor under the HPC lease. Pays contracted rent to landlord over base term of 10–25 years.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0360" y="2734056"/>
            <a:ext cx="640080" cy="0"/>
          </a:xfrm>
          <a:prstGeom prst="line">
            <a:avLst/>
          </a:prstGeom>
          <a:noFill/>
          <a:ln w="19050">
            <a:solidFill>
              <a:srgbClr val="1C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2505456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01568" y="266090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2212848"/>
            <a:ext cx="2377440" cy="1051560"/>
          </a:xfrm>
          <a:prstGeom prst="rect">
            <a:avLst/>
          </a:prstGeom>
          <a:solidFill>
            <a:srgbClr val="F7F8FA"/>
          </a:solidFill>
          <a:ln w="12700">
            <a:solidFill>
              <a:srgbClr val="AABB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2212848"/>
            <a:ext cx="2377440" cy="329184"/>
          </a:xfrm>
          <a:prstGeom prst="rect">
            <a:avLst/>
          </a:prstGeom>
          <a:solidFill>
            <a:srgbClr val="334E6F"/>
          </a:solidFill>
          <a:ln w="12700">
            <a:solidFill>
              <a:srgbClr val="334E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2128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 / WULF  (Landlord)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9312" y="2596896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contracted rent; issues non-recourse project debt backed by Google-wrapped cashflows.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2734056"/>
            <a:ext cx="640080" cy="0"/>
          </a:xfrm>
          <a:prstGeom prst="line">
            <a:avLst/>
          </a:prstGeom>
          <a:noFill/>
          <a:ln w="19050">
            <a:solidFill>
              <a:srgbClr val="1C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52744" y="2505456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default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10528" y="266090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2212848"/>
            <a:ext cx="2011680" cy="1051560"/>
          </a:xfrm>
          <a:prstGeom prst="rect">
            <a:avLst/>
          </a:prstGeom>
          <a:solidFill>
            <a:srgbClr val="EEF4FB"/>
          </a:solidFill>
          <a:ln w="15240">
            <a:solidFill>
              <a:srgbClr val="2B5C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0" y="2212848"/>
            <a:ext cx="2011680" cy="329184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2128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LLC  (Backstop)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48272" y="2596896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up to capped notional. Receives equity warrants in CIFR / WULF as consideration.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66160" y="33375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Warrants (equity stake) flow back to Google at signing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substitution.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Bondholders price Google's credit, not Fluidstack's — the backstop converts neocloud risk into hyperscaler-grade collateral.  </a:t>
            </a:r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Trigger.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Backstop is activated only upon Fluidstack payment default after rent commencement; it does not cover construction or pre-completion risk.  </a:t>
            </a:r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Consideration.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Warrants priced at signing; Google acquires equity exposure at cost of a contingent (not cash) commitment.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Terms at a Glance: CIFR (Barber Lake) vs. WULF (Lake Mariner)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22376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41248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944368"/>
                <a:gridCol w="29535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 — Barber Lake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WULF — Lake Mariner (CB-3 / CB-5)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Fluidstack USA II Inc.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Fluidstack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capacity contracted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MW (Phase I: 244 MW; Phase II: 56 MW)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~360 MW (CB-3: ~200 MW; CB-5: ~160 MW)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backstop (notional)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$1.73Bn (upsized from $1.4Bn on lease expansion)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~$3.2Bn ($1.8Bn CB-3 + $1.4Bn CB-5)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equity stake (warrants)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~5.4% of CIFR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 of WULF equity (8% CB-3 + ~6% CB-5)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revenue (base term)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~$3.8Bn over 10 years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~$3.7Bn over 10 years ($8.7Bn incl. extensions)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lease 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years + two 5-year extensions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years + two 5-year extensions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debt issued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$1.73Bn at 7.125% (5NC2, Nov 2025); LTC ~71%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$1.275Bn secured notes (JV vehicle; CB-3 + CB-5)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~86% (modified gross lease)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disclosed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commencement (target)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October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2026 (CB-5 targeted)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Governing legal instrument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Recognition Agreement (Cipher Barber Lake LLC / Fluidstack / Google)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Backstop agreement via JV vehicle; structure similar to CIFR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CIFR FY2025 10-K, CIFR 8-K Sep 24 2025 / Nov 20 2025; WULF press releases Aug 14, Aug 18, Oct 28 2025. WULF CB-5 and Abernathy JV data from company announcements.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Party Gains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22376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3977640" cy="1901952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397764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LLC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3721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warrants at no cash outlay.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receives ~5.4% of CIFR and ~14% of WULF via warrants — acquiring listed HPC infrastructure exposure at the cost of a contingent, not cash, commitment.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capacity secured.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backstop guarantees Fluidstack — Google's preferred neocloud partner — can finance large-scale AI compute that Google will ultimately deploy workloads through.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stakes create durable co-interest with two listed infrastructure operators across a combined ~660 MW of committed capacity.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3977640" cy="1901952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397764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22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 (Tenant)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243584"/>
            <a:ext cx="3721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scale otherwise unavailable.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 on its own would not have supported $1.73Bn (CIFR) or $3.2Bn (WULF) of project HY debt. Google's credit wrapper enables financing at institutional scale.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compute lock-in.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 year leases at pre-set pricing give Fluidstack cost certainty as AI compute demand escalates and spot capacity becomes scarce.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backstop differentiates Fluidstack from other neoclouds in hyperscaler vendor selection and project debt markets.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3977640" cy="1901952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16352"/>
            <a:ext cx="3977640" cy="347472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163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Mining (CIFR)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3721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project debt spreads.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backstop enabled $1.73Bn at 7.125% — materially inside what a standalone Fluidstack lease would have supported. Black Pearl / AWS followed at 6.125% (100 bps tighter), validating the template.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equity dilution.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~5.4% CIFR dilution to Google is the cost of converting neocloud credit into hyperscaler-grade financing — a fraction of what equity-funded construction would have required.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signal for subsequent leases.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name on the cap table demonstrably de-risked the AWS lease ($13Bn order book, 6.5x oversubscribed).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816352"/>
            <a:ext cx="3977640" cy="1901952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16352"/>
            <a:ext cx="3977640" cy="347472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8163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TeraWulf (WULF)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36976"/>
            <a:ext cx="3721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backstop, broader capacity.  </a:t>
            </a:r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$3.2Bn backstop (vs. $1.73Bn CIFR) reflects WULF's larger ~360 MW Lake Mariner commitment; Google's ~14% stake is proportionately higher but unlocks project financing unavailable independently.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 structure at Abernathy.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follow-on Abernathy JV ($1.3Bn backstop, 25-yr lease, ~$9.5Bn contracted revenue) goes further — WULF retains an equity interest in the JV vehicle, not merely a leasehold.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Self-funding capital structure.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Non-recourse project debt with CapEx reimbursement provisions recycles equity back to corporate for deployment at subsequent sites without tapping public markets.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892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Backstop — Fluidstack</dc:title>
  <dc:subject>PptxGenJS Presentation</dc:subject>
  <dc:creator>PptxGenJS</dc:creator>
  <cp:lastModifiedBy>PptxGenJS</cp:lastModifiedBy>
  <cp:revision>1</cp:revision>
  <dcterms:created xsi:type="dcterms:W3CDTF">2026-05-07T05:48:15Z</dcterms:created>
  <dcterms:modified xsi:type="dcterms:W3CDTF">2026-05-07T05:48:15Z</dcterms:modified>
</cp:coreProperties>
</file>