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RESEARCH   ·   CONFIDENTIAL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DE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Robinhood 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aggressor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vs. Robinhood — a full product-offering teardown across the new growth verticals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86400" cy="0"/>
          </a:xfrm>
          <a:prstGeom prst="line">
            <a:avLst/>
          </a:prstGeom>
          <a:noFill/>
          <a:ln w="12700">
            <a:solidFill>
              <a:srgbClr val="3A4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461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answer.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six product verticals, Robinhood leads three, Coinbase two, one is even — and Robinhood's are the consumer-facing, fastest-monetizing ones. Its prediction-market revenue already exceeds its crypto revenue.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5074920"/>
            <a:ext cx="166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8A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TRADING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92680" y="5074920"/>
            <a:ext cx="166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8A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DERIVATIVES &amp; PERPS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92680" y="55321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36720" y="5074920"/>
            <a:ext cx="166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8A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36720" y="55321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5074920"/>
            <a:ext cx="166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8A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/ RWA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80760" y="55321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24800" y="5074920"/>
            <a:ext cx="166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8A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 &amp; PAY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24800" y="55321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68840" y="5074920"/>
            <a:ext cx="166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spc="50" kern="0" dirty="0">
                <a:solidFill>
                  <a:srgbClr val="8A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&amp; CONSUMER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768840" y="55321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4 August 2026   ·   COIN Q2'26 revenue $1.2bn (-14% q/q)   ·   HOOD Q2'26 revenue $1.31bn (+32% y/y)   ·   first draft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Robinhood enters more categories faster; Coinbase goes deeper in two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win-count is close, but Robinhood leads the consumer-facing verticals where new-product revenue is compounding fastest.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1901952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is expanding across the whole retail-finance surface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15568" y="2304288"/>
            <a:ext cx="5422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Prediction-market exchange (Rothera), tokenized equities, its own L2, multi-asset perps, banking, retirement, RIA custody and credit cards — most shipped in ~18 months.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18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320040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new-product revenue is already turning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15568" y="3602736"/>
            <a:ext cx="5422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Prediction-market revenue now exceeds crypto revenue at Robinhood (~$156mn in Q2'26, ~6x Coinbase's ~$100mn ARR) — direct evidence for the revenue-mix-shift thesis.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5171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449884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is deeper, but concentrated in two lanes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15568" y="4901184"/>
            <a:ext cx="5422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leadership only in regulated derivatives and USDC / stablecoin economics — defensible and structural, but thin across consumer finance.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608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Implication.  </a:t>
            </a:r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“share of new-product revenue” thesis, momentum favours Robinhood; Coinbase's perps, stablecoin and tokenized-equity rails are the swing factor to watch.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1847088"/>
            <a:ext cx="4709160" cy="4160520"/>
          </a:xfrm>
          <a:prstGeom prst="roundRect">
            <a:avLst>
              <a:gd name="adj" fmla="val 879"/>
            </a:avLst>
          </a:prstGeom>
          <a:solidFill>
            <a:srgbClr val="F5F8FB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20482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BY VERTICAL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235440" y="2359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966960" y="2359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652760" y="23591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78040" y="263347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trading &amp; investing</a:t>
            </a:r>
            <a:endParaRPr lang="en-US" sz="9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88" y="2761488"/>
            <a:ext cx="237744" cy="237744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276148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561320" y="263347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178040" y="3127248"/>
            <a:ext cx="416052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78040" y="312724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Derivatives &amp; perps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3255264"/>
            <a:ext cx="237744" cy="237744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8" y="3255264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61320" y="312724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7178040" y="3621024"/>
            <a:ext cx="416052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178040" y="362102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</a:t>
            </a:r>
            <a:endParaRPr lang="en-US" sz="9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3749040"/>
            <a:ext cx="237744" cy="237744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408" y="374904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561320" y="362102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7178040" y="4114800"/>
            <a:ext cx="416052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178040" y="411480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&amp; RWA</a:t>
            </a:r>
            <a:endParaRPr lang="en-US" sz="95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0888" y="4242816"/>
            <a:ext cx="237744" cy="237744"/>
          </a:xfrm>
          <a:prstGeom prst="rect">
            <a:avLst/>
          </a:prstGeom>
        </p:spPr>
      </p:pic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2408" y="4242816"/>
            <a:ext cx="237744" cy="23774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0561320" y="4114800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7178040" y="4608576"/>
            <a:ext cx="416052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7178040" y="460857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 &amp; payments</a:t>
            </a:r>
            <a:endParaRPr lang="en-US" sz="95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0888" y="4736592"/>
            <a:ext cx="237744" cy="237744"/>
          </a:xfrm>
          <a:prstGeom prst="rect">
            <a:avLst/>
          </a:prstGeom>
        </p:spPr>
      </p:pic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2408" y="4736592"/>
            <a:ext cx="237744" cy="23774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0561320" y="460857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7178040" y="5102352"/>
            <a:ext cx="416052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7178040" y="510235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Wealth, banking &amp; consumer</a:t>
            </a:r>
            <a:endParaRPr lang="en-US" sz="9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0888" y="5230368"/>
            <a:ext cx="237744" cy="237744"/>
          </a:xfrm>
          <a:prstGeom prst="rect">
            <a:avLst/>
          </a:prstGeom>
        </p:spPr>
      </p:pic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22408" y="5230368"/>
            <a:ext cx="237744" cy="237744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10561320" y="510235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950" dirty="0"/>
          </a:p>
        </p:txBody>
      </p:sp>
      <p:sp>
        <p:nvSpPr>
          <p:cNvPr id="49" name="Text 35"/>
          <p:cNvSpPr/>
          <p:nvPr/>
        </p:nvSpPr>
        <p:spPr>
          <a:xfrm>
            <a:off x="7178040" y="57332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 3</a:t>
            </a:r>
            <a:pPr algn="ctr" indent="0" marL="0">
              <a:buNone/>
            </a:pPr>
            <a:r>
              <a:rPr lang="en-US" sz="100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COIN 2</a:t>
            </a:r>
            <a:pPr algn="ctr" indent="0" marL="0">
              <a:buNone/>
            </a:pPr>
            <a:r>
              <a:rPr lang="en-US" sz="1000" b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EVEN 1</a:t>
            </a:r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verticals led</a:t>
            </a:r>
            <a:endParaRPr lang="en-US" sz="10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22008" y="6172200"/>
            <a:ext cx="137160" cy="13716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086600" y="6144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75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44968" y="6172200"/>
            <a:ext cx="137160" cy="13716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7909560" y="6144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75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67928" y="6172200"/>
            <a:ext cx="137160" cy="13716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8732520" y="6144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</a:t>
            </a:r>
            <a:endParaRPr lang="en-US" sz="75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0888" y="6172200"/>
            <a:ext cx="137160" cy="137160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9555480" y="6144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3848" y="6172200"/>
            <a:ext cx="137160" cy="137160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10378440" y="6144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750" dirty="0"/>
          </a:p>
        </p:txBody>
      </p:sp>
      <p:sp>
        <p:nvSpPr>
          <p:cNvPr id="60" name="Shape 41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61" name="Text 42"/>
          <p:cNvSpPr/>
          <p:nvPr/>
        </p:nvSpPr>
        <p:spPr>
          <a:xfrm>
            <a:off x="548640" y="649224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IR &amp; Q2'26 results; Coinbase &amp; Robinhood newsrooms; CFTC actions; press. Position marks are editorial judgment on the product-velocity framework.</a:t>
            </a:r>
            <a:endParaRPr lang="en-US" sz="700" dirty="0"/>
          </a:p>
        </p:txBody>
      </p:sp>
      <p:sp>
        <p:nvSpPr>
          <p:cNvPr id="62" name="Text 43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vs. HOOD  ·  Product teardown</a:t>
            </a:r>
            <a:pPr algn="r" indent="0" marL="0">
              <a:buNone/>
            </a:pPr>
            <a:r>
              <a:rPr lang="en-US" sz="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Summary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1  ·  CORE TRADING &amp; INVESTING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base — Robinhood owns the brokerage, Coinbase owns the crypto book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is attacking Robinhood's equities turf; its clearer wins are the crypto-native staking and lending rails.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45720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0839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7200"/>
            <a:ext cx="137160" cy="137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135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457200"/>
            <a:ext cx="137160" cy="137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5431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457200"/>
            <a:ext cx="137160" cy="1371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7727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457200"/>
            <a:ext cx="137160" cy="1371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00023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750" dirty="0"/>
          </a:p>
        </p:txBody>
      </p:sp>
      <p:sp>
        <p:nvSpPr>
          <p:cNvPr id="15" name="Text 8"/>
          <p:cNvSpPr/>
          <p:nvPr/>
        </p:nvSpPr>
        <p:spPr>
          <a:xfrm>
            <a:off x="548640" y="15910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3017520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</a:t>
            </a:r>
            <a:pPr indent="0" marL="0">
              <a:buNone/>
            </a:pPr>
            <a:r>
              <a:rPr lang="en-US" sz="105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(COIN)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784848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</a:t>
            </a:r>
            <a:pPr indent="0" marL="0">
              <a:buNone/>
            </a:pPr>
            <a:r>
              <a:rPr lang="en-US" sz="105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(HOOD)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10469880" y="15910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548640" y="1883664"/>
            <a:ext cx="11064240" cy="0"/>
          </a:xfrm>
          <a:prstGeom prst="line">
            <a:avLst/>
          </a:prstGeom>
          <a:noFill/>
          <a:ln w="12700">
            <a:solidFill>
              <a:srgbClr val="14202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48640" y="2066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crypto trading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&amp; advanced</a:t>
            </a:r>
            <a:endParaRPr lang="en-US" sz="8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2251253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456432" y="20756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· LIVE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3456432" y="2249424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Deepest US book; ~90% of US institutional volume; record 10.3% global share.</a:t>
            </a:r>
            <a:endParaRPr lang="en-US" sz="88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2251253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23760" y="20756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+ EU · LIVE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7223760" y="2249424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US, EU; UK launching. Crypto revenue $100mn in Q2'26 (-38% y/y).</a:t>
            </a:r>
            <a:endParaRPr lang="en-US" sz="880" dirty="0"/>
          </a:p>
        </p:txBody>
      </p:sp>
      <p:sp>
        <p:nvSpPr>
          <p:cNvPr id="28" name="Text 19"/>
          <p:cNvSpPr/>
          <p:nvPr/>
        </p:nvSpPr>
        <p:spPr>
          <a:xfrm>
            <a:off x="10469880" y="2232965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even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548640" y="2820010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548640" y="292973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Equities &amp; ETF trading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48640" y="316748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shares</a:t>
            </a:r>
            <a:endParaRPr lang="en-US" sz="8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3114446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456432" y="293888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 (NEW)</a:t>
            </a:r>
            <a:endParaRPr lang="en-US" sz="800" dirty="0"/>
          </a:p>
        </p:txBody>
      </p:sp>
      <p:sp>
        <p:nvSpPr>
          <p:cNvPr id="34" name="Text 24"/>
          <p:cNvSpPr/>
          <p:nvPr/>
        </p:nvSpPr>
        <p:spPr>
          <a:xfrm>
            <a:off x="3456432" y="311261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24/5, zero-commission, via Apex; opened to all US users Feb'26.</a:t>
            </a:r>
            <a:endParaRPr lang="en-US" sz="88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3114446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223760" y="293888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7223760" y="311261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since 2015; deep retail penetration, fractional, Legend desktop.</a:t>
            </a:r>
            <a:endParaRPr lang="en-US" sz="880" dirty="0"/>
          </a:p>
        </p:txBody>
      </p:sp>
      <p:sp>
        <p:nvSpPr>
          <p:cNvPr id="38" name="Text 27"/>
          <p:cNvSpPr/>
          <p:nvPr/>
        </p:nvSpPr>
        <p:spPr>
          <a:xfrm>
            <a:off x="10469880" y="309615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548640" y="3683203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48640" y="3792931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options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548640" y="4030675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 options</a:t>
            </a:r>
            <a:endParaRPr lang="en-US" sz="85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520" y="3977640"/>
            <a:ext cx="274320" cy="27432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456432" y="3802075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PLANNED</a:t>
            </a:r>
            <a:endParaRPr lang="en-US" sz="800" dirty="0"/>
          </a:p>
        </p:txBody>
      </p:sp>
      <p:sp>
        <p:nvSpPr>
          <p:cNvPr id="44" name="Text 32"/>
          <p:cNvSpPr/>
          <p:nvPr/>
        </p:nvSpPr>
        <p:spPr>
          <a:xfrm>
            <a:off x="3456432" y="3975811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+ crypto options announced Jun'26; not yet live.</a:t>
            </a:r>
            <a:endParaRPr lang="en-US" sz="88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4848" y="3977640"/>
            <a:ext cx="274320" cy="27432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223760" y="3802075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47" name="Text 34"/>
          <p:cNvSpPr/>
          <p:nvPr/>
        </p:nvSpPr>
        <p:spPr>
          <a:xfrm>
            <a:off x="7223760" y="3975811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+ single-stock options — a core, high-margin revenue engine.</a:t>
            </a:r>
            <a:endParaRPr lang="en-US" sz="880" dirty="0"/>
          </a:p>
        </p:txBody>
      </p:sp>
      <p:sp>
        <p:nvSpPr>
          <p:cNvPr id="48" name="Text 35"/>
          <p:cNvSpPr/>
          <p:nvPr/>
        </p:nvSpPr>
        <p:spPr>
          <a:xfrm>
            <a:off x="10469880" y="39593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548640" y="4546397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548640" y="4656125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staking</a:t>
            </a:r>
            <a:endParaRPr lang="en-US" sz="1100" dirty="0"/>
          </a:p>
        </p:txBody>
      </p:sp>
      <p:sp>
        <p:nvSpPr>
          <p:cNvPr id="51" name="Text 38"/>
          <p:cNvSpPr/>
          <p:nvPr/>
        </p:nvSpPr>
        <p:spPr>
          <a:xfrm>
            <a:off x="548640" y="4893869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85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7520" y="4840834"/>
            <a:ext cx="274320" cy="27432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3456432" y="4665269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· LIVE</a:t>
            </a:r>
            <a:endParaRPr lang="en-US" sz="800" dirty="0"/>
          </a:p>
        </p:txBody>
      </p:sp>
      <p:sp>
        <p:nvSpPr>
          <p:cNvPr id="54" name="Text 40"/>
          <p:cNvSpPr/>
          <p:nvPr/>
        </p:nvSpPr>
        <p:spPr>
          <a:xfrm>
            <a:off x="3456432" y="4839005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asset set (ETH, SOL, many); institutional staking.</a:t>
            </a:r>
            <a:endParaRPr lang="en-US" sz="88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4848" y="4840834"/>
            <a:ext cx="274320" cy="27432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7223760" y="4665269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+ EU · LIVE</a:t>
            </a:r>
            <a:endParaRPr lang="en-US" sz="800" dirty="0"/>
          </a:p>
        </p:txBody>
      </p:sp>
      <p:sp>
        <p:nvSpPr>
          <p:cNvPr id="57" name="Text 42"/>
          <p:cNvSpPr/>
          <p:nvPr/>
        </p:nvSpPr>
        <p:spPr>
          <a:xfrm>
            <a:off x="7223760" y="4839005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(ETH, SOL) and EU; narrower asset set.</a:t>
            </a:r>
            <a:endParaRPr lang="en-US" sz="880" dirty="0"/>
          </a:p>
        </p:txBody>
      </p:sp>
      <p:sp>
        <p:nvSpPr>
          <p:cNvPr id="58" name="Text 43"/>
          <p:cNvSpPr/>
          <p:nvPr/>
        </p:nvSpPr>
        <p:spPr>
          <a:xfrm>
            <a:off x="10469880" y="482254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1050" dirty="0"/>
          </a:p>
        </p:txBody>
      </p:sp>
      <p:sp>
        <p:nvSpPr>
          <p:cNvPr id="59" name="Shape 44"/>
          <p:cNvSpPr/>
          <p:nvPr/>
        </p:nvSpPr>
        <p:spPr>
          <a:xfrm>
            <a:off x="548640" y="5409590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60" name="Text 45"/>
          <p:cNvSpPr/>
          <p:nvPr/>
        </p:nvSpPr>
        <p:spPr>
          <a:xfrm>
            <a:off x="548640" y="551931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Lending / borrow</a:t>
            </a:r>
            <a:endParaRPr lang="en-US" sz="1100" dirty="0"/>
          </a:p>
        </p:txBody>
      </p:sp>
      <p:sp>
        <p:nvSpPr>
          <p:cNvPr id="61" name="Text 46"/>
          <p:cNvSpPr/>
          <p:nvPr/>
        </p:nvSpPr>
        <p:spPr>
          <a:xfrm>
            <a:off x="548640" y="575706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850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17520" y="5704027"/>
            <a:ext cx="274320" cy="274320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3456432" y="552846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64" name="Text 48"/>
          <p:cNvSpPr/>
          <p:nvPr/>
        </p:nvSpPr>
        <p:spPr>
          <a:xfrm>
            <a:off x="3456432" y="570219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vs BTC / USDC / staked SOL; crypto-backed mortgages (Better).</a:t>
            </a:r>
            <a:endParaRPr lang="en-US" sz="880" dirty="0"/>
          </a:p>
        </p:txBody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4848" y="5704027"/>
            <a:ext cx="274320" cy="274320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7223760" y="552846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67" name="Text 50"/>
          <p:cNvSpPr/>
          <p:nvPr/>
        </p:nvSpPr>
        <p:spPr>
          <a:xfrm>
            <a:off x="7223760" y="570219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&amp; securities-based lending; no crypto collateral.</a:t>
            </a:r>
            <a:endParaRPr lang="en-US" sz="880" dirty="0"/>
          </a:p>
        </p:txBody>
      </p:sp>
      <p:sp>
        <p:nvSpPr>
          <p:cNvPr id="68" name="Text 51"/>
          <p:cNvSpPr/>
          <p:nvPr/>
        </p:nvSpPr>
        <p:spPr>
          <a:xfrm>
            <a:off x="10469880" y="5685739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1050" dirty="0"/>
          </a:p>
        </p:txBody>
      </p:sp>
      <p:sp>
        <p:nvSpPr>
          <p:cNvPr id="69" name="Shape 52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70" name="Text 53"/>
          <p:cNvSpPr/>
          <p:nvPr/>
        </p:nvSpPr>
        <p:spPr>
          <a:xfrm>
            <a:off x="548640" y="649224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IR &amp; Q2'26 results; Coinbase &amp; Robinhood newsrooms; CFTC actions; press. Position marks are editorial judgment on the product-velocity framework.</a:t>
            </a:r>
            <a:endParaRPr lang="en-US" sz="700" dirty="0"/>
          </a:p>
        </p:txBody>
      </p:sp>
      <p:sp>
        <p:nvSpPr>
          <p:cNvPr id="71" name="Text 54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vs. HOOD  ·  Product teardown</a:t>
            </a:r>
            <a:pPr algn="r" indent="0" marL="0">
              <a:buNone/>
            </a:pPr>
            <a:r>
              <a:rPr lang="en-US" sz="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Exhibit 1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2  ·  DERIVATIVES &amp; PERPETUAL FUTURES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Coinbase's one lane of clear leadership — and it is a deep one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regulated US crypto and equity-index perps, plus offshore 50x and global Deribit access. Robinhood's perps are EU-only.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45720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0839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7200"/>
            <a:ext cx="137160" cy="137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135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457200"/>
            <a:ext cx="137160" cy="137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5431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457200"/>
            <a:ext cx="137160" cy="1371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7727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457200"/>
            <a:ext cx="137160" cy="1371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00023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750" dirty="0"/>
          </a:p>
        </p:txBody>
      </p:sp>
      <p:sp>
        <p:nvSpPr>
          <p:cNvPr id="15" name="Text 8"/>
          <p:cNvSpPr/>
          <p:nvPr/>
        </p:nvSpPr>
        <p:spPr>
          <a:xfrm>
            <a:off x="548640" y="15910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3017520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</a:t>
            </a:r>
            <a:pPr indent="0" marL="0">
              <a:buNone/>
            </a:pPr>
            <a:r>
              <a:rPr lang="en-US" sz="105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(COIN)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784848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</a:t>
            </a:r>
            <a:pPr indent="0" marL="0">
              <a:buNone/>
            </a:pPr>
            <a:r>
              <a:rPr lang="en-US" sz="105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(HOOD)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10469880" y="15910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548640" y="1883664"/>
            <a:ext cx="11064240" cy="0"/>
          </a:xfrm>
          <a:prstGeom prst="line">
            <a:avLst/>
          </a:prstGeom>
          <a:noFill/>
          <a:ln w="12700">
            <a:solidFill>
              <a:srgbClr val="14202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48640" y="2066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perpetual futures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onshore + offshore</a:t>
            </a:r>
            <a:endParaRPr lang="en-US" sz="8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2251253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456432" y="20756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ONSHORE + OFFSHORE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3456432" y="2249424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onshore (CFTC / CFM, nano BTC-ETH-SOL-XRP, 10x); plus offshore up to 50x via Int'l Exchange &amp; Deribit access.</a:t>
            </a:r>
            <a:endParaRPr lang="en-US" sz="88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2251253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23760" y="20756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ONLY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7223760" y="2249424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only via Bitstamp; nothing available to US persons, onshore or offshore.</a:t>
            </a:r>
            <a:endParaRPr lang="en-US" sz="880" dirty="0"/>
          </a:p>
        </p:txBody>
      </p:sp>
      <p:sp>
        <p:nvSpPr>
          <p:cNvPr id="28" name="Text 19"/>
          <p:cNvSpPr/>
          <p:nvPr/>
        </p:nvSpPr>
        <p:spPr>
          <a:xfrm>
            <a:off x="10469880" y="2232965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548640" y="2820010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548640" y="292973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&amp; index perps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48640" y="316748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single-stock + indices</a:t>
            </a:r>
            <a:endParaRPr lang="en-US" sz="8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3114446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456432" y="293888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ONSHORE + OFFSHORE</a:t>
            </a:r>
            <a:endParaRPr lang="en-US" sz="800" dirty="0"/>
          </a:p>
        </p:txBody>
      </p:sp>
      <p:sp>
        <p:nvSpPr>
          <p:cNvPr id="34" name="Text 24"/>
          <p:cNvSpPr/>
          <p:nvPr/>
        </p:nvSpPr>
        <p:spPr>
          <a:xfrm>
            <a:off x="3456432" y="311261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perp-style index (AI / Defense, Nasdaq-100); S&amp;P 500 live 17-Aug, 20x. Single-stock offshore.</a:t>
            </a:r>
            <a:endParaRPr lang="en-US" sz="88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3114446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223760" y="293888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ONLY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7223760" y="311261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Multi-asset perps incl. equity indices (Jul'26); no single-stock.</a:t>
            </a:r>
            <a:endParaRPr lang="en-US" sz="880" dirty="0"/>
          </a:p>
        </p:txBody>
      </p:sp>
      <p:sp>
        <p:nvSpPr>
          <p:cNvPr id="38" name="Text 27"/>
          <p:cNvSpPr/>
          <p:nvPr/>
        </p:nvSpPr>
        <p:spPr>
          <a:xfrm>
            <a:off x="10469880" y="309615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548640" y="3683203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48640" y="3792931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Commodity, FX &amp; other perps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548640" y="4030675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metals, FX, pre-IPO</a:t>
            </a:r>
            <a:endParaRPr lang="en-US" sz="85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520" y="3977640"/>
            <a:ext cx="274320" cy="27432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456432" y="3802075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+ OFFSHORE</a:t>
            </a:r>
            <a:endParaRPr lang="en-US" sz="800" dirty="0"/>
          </a:p>
        </p:txBody>
      </p:sp>
      <p:sp>
        <p:nvSpPr>
          <p:cNvPr id="44" name="Text 32"/>
          <p:cNvSpPr/>
          <p:nvPr/>
        </p:nvSpPr>
        <p:spPr>
          <a:xfrm>
            <a:off x="3456432" y="3975811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Metals onshore; commodities &amp; pre-IPO / pre-launch offshore. No FX.</a:t>
            </a:r>
            <a:endParaRPr lang="en-US" sz="88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4848" y="3977640"/>
            <a:ext cx="274320" cy="27432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223760" y="3802075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ONLY</a:t>
            </a:r>
            <a:endParaRPr lang="en-US" sz="800" dirty="0"/>
          </a:p>
        </p:txBody>
      </p:sp>
      <p:sp>
        <p:nvSpPr>
          <p:cNvPr id="47" name="Text 34"/>
          <p:cNvSpPr/>
          <p:nvPr/>
        </p:nvSpPr>
        <p:spPr>
          <a:xfrm>
            <a:off x="7223760" y="3975811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and FX perps (Jul'26), up to 10x — EU only.</a:t>
            </a:r>
            <a:endParaRPr lang="en-US" sz="880" dirty="0"/>
          </a:p>
        </p:txBody>
      </p:sp>
      <p:sp>
        <p:nvSpPr>
          <p:cNvPr id="48" name="Text 35"/>
          <p:cNvSpPr/>
          <p:nvPr/>
        </p:nvSpPr>
        <p:spPr>
          <a:xfrm>
            <a:off x="10469880" y="39593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even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548640" y="4546397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548640" y="4656125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options</a:t>
            </a:r>
            <a:endParaRPr lang="en-US" sz="1100" dirty="0"/>
          </a:p>
        </p:txBody>
      </p:sp>
      <p:sp>
        <p:nvSpPr>
          <p:cNvPr id="51" name="Text 38"/>
          <p:cNvSpPr/>
          <p:nvPr/>
        </p:nvSpPr>
        <p:spPr>
          <a:xfrm>
            <a:off x="548640" y="4893869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85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7520" y="4840834"/>
            <a:ext cx="274320" cy="27432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3456432" y="4665269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54" name="Text 40"/>
          <p:cNvSpPr/>
          <p:nvPr/>
        </p:nvSpPr>
        <p:spPr>
          <a:xfrm>
            <a:off x="3456432" y="4839005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CFM → Deribit, the world's largest options book; in-app options planned.</a:t>
            </a:r>
            <a:endParaRPr lang="en-US" sz="88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4848" y="4840834"/>
            <a:ext cx="274320" cy="27432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7223760" y="4665269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7" name="Text 42"/>
          <p:cNvSpPr/>
          <p:nvPr/>
        </p:nvSpPr>
        <p:spPr>
          <a:xfrm>
            <a:off x="7223760" y="4839005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crypto options (equity options only).</a:t>
            </a:r>
            <a:endParaRPr lang="en-US" sz="880" dirty="0"/>
          </a:p>
        </p:txBody>
      </p:sp>
      <p:sp>
        <p:nvSpPr>
          <p:cNvPr id="58" name="Text 43"/>
          <p:cNvSpPr/>
          <p:nvPr/>
        </p:nvSpPr>
        <p:spPr>
          <a:xfrm>
            <a:off x="10469880" y="482254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1050" dirty="0"/>
          </a:p>
        </p:txBody>
      </p:sp>
      <p:sp>
        <p:nvSpPr>
          <p:cNvPr id="59" name="Shape 44"/>
          <p:cNvSpPr/>
          <p:nvPr/>
        </p:nvSpPr>
        <p:spPr>
          <a:xfrm>
            <a:off x="548640" y="5409590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60" name="Text 45"/>
          <p:cNvSpPr/>
          <p:nvPr/>
        </p:nvSpPr>
        <p:spPr>
          <a:xfrm>
            <a:off x="548640" y="551931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 futures &amp; binaries</a:t>
            </a:r>
            <a:endParaRPr lang="en-US" sz="1100" dirty="0"/>
          </a:p>
        </p:txBody>
      </p:sp>
      <p:sp>
        <p:nvSpPr>
          <p:cNvPr id="61" name="Text 46"/>
          <p:cNvSpPr/>
          <p:nvPr/>
        </p:nvSpPr>
        <p:spPr>
          <a:xfrm>
            <a:off x="548640" y="575706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 + up/down</a:t>
            </a:r>
            <a:endParaRPr lang="en-US" sz="850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17520" y="5704027"/>
            <a:ext cx="274320" cy="274320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3456432" y="552846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64" name="Text 48"/>
          <p:cNvSpPr/>
          <p:nvPr/>
        </p:nvSpPr>
        <p:spPr>
          <a:xfrm>
            <a:off x="3456432" y="570219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Derivatives futures + crypto binaries (Q2'26: 3x traders, 4x revenue).</a:t>
            </a:r>
            <a:endParaRPr lang="en-US" sz="880" dirty="0"/>
          </a:p>
        </p:txBody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4848" y="5704027"/>
            <a:ext cx="274320" cy="274320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7223760" y="552846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67" name="Text 50"/>
          <p:cNvSpPr/>
          <p:nvPr/>
        </p:nvSpPr>
        <p:spPr>
          <a:xfrm>
            <a:off x="7223760" y="570219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CME products via Legend; no binaries.</a:t>
            </a:r>
            <a:endParaRPr lang="en-US" sz="880" dirty="0"/>
          </a:p>
        </p:txBody>
      </p:sp>
      <p:sp>
        <p:nvSpPr>
          <p:cNvPr id="68" name="Text 51"/>
          <p:cNvSpPr/>
          <p:nvPr/>
        </p:nvSpPr>
        <p:spPr>
          <a:xfrm>
            <a:off x="10469880" y="5685739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even</a:t>
            </a:r>
            <a:endParaRPr lang="en-US" sz="900" dirty="0"/>
          </a:p>
        </p:txBody>
      </p:sp>
      <p:sp>
        <p:nvSpPr>
          <p:cNvPr id="69" name="Shape 52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70" name="Text 53"/>
          <p:cNvSpPr/>
          <p:nvPr/>
        </p:nvSpPr>
        <p:spPr>
          <a:xfrm>
            <a:off x="548640" y="649224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IR &amp; Q2'26 results; Coinbase &amp; Robinhood newsrooms; CFTC actions; press. Position marks are editorial judgment on the product-velocity framework.</a:t>
            </a:r>
            <a:endParaRPr lang="en-US" sz="700" dirty="0"/>
          </a:p>
        </p:txBody>
      </p:sp>
      <p:sp>
        <p:nvSpPr>
          <p:cNvPr id="71" name="Text 54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vs. HOOD  ·  Product teardown</a:t>
            </a:r>
            <a:pPr algn="r" indent="0" marL="0">
              <a:buNone/>
            </a:pPr>
            <a:r>
              <a:rPr lang="en-US" sz="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Exhibit 2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3  ·  PREDICTION MARKETS &amp; TOKENIZATION / RWA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growth verticals — Robinhood is out-executing on both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owns the prediction-market exchange and out-earns Coinbase ~6x, and it shipped tokenized equities and its own L2 first.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45720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0839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7200"/>
            <a:ext cx="137160" cy="137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135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457200"/>
            <a:ext cx="137160" cy="137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5431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457200"/>
            <a:ext cx="137160" cy="1371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7727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457200"/>
            <a:ext cx="137160" cy="1371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00023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750" dirty="0"/>
          </a:p>
        </p:txBody>
      </p:sp>
      <p:sp>
        <p:nvSpPr>
          <p:cNvPr id="15" name="Text 8"/>
          <p:cNvSpPr/>
          <p:nvPr/>
        </p:nvSpPr>
        <p:spPr>
          <a:xfrm>
            <a:off x="548640" y="15910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3017520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</a:t>
            </a:r>
            <a:pPr indent="0" marL="0">
              <a:buNone/>
            </a:pPr>
            <a:r>
              <a:rPr lang="en-US" sz="105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(COIN)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784848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</a:t>
            </a:r>
            <a:pPr indent="0" marL="0">
              <a:buNone/>
            </a:pPr>
            <a:r>
              <a:rPr lang="en-US" sz="105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(HOOD)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10469880" y="15910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548640" y="1883664"/>
            <a:ext cx="11064240" cy="0"/>
          </a:xfrm>
          <a:prstGeom prst="line">
            <a:avLst/>
          </a:prstGeom>
          <a:noFill/>
          <a:ln w="12700">
            <a:solidFill>
              <a:srgbClr val="14202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48640" y="2066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— distribution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contracts</a:t>
            </a:r>
            <a:endParaRPr lang="en-US" sz="8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2251253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456432" y="20756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3456432" y="2249424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+ crypto / macro; ~$100mn ARR, +106% q/q in Q2'26.</a:t>
            </a:r>
            <a:endParaRPr lang="en-US" sz="88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2251253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23760" y="20756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7223760" y="2249424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retail distributor; ~16bn contracts traded YTD'26.</a:t>
            </a:r>
            <a:endParaRPr lang="en-US" sz="880" dirty="0"/>
          </a:p>
        </p:txBody>
      </p:sp>
      <p:sp>
        <p:nvSpPr>
          <p:cNvPr id="28" name="Text 19"/>
          <p:cNvSpPr/>
          <p:nvPr/>
        </p:nvSpPr>
        <p:spPr>
          <a:xfrm>
            <a:off x="10469880" y="2232965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548640" y="2820010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548640" y="292973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— own exchange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48640" y="316748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 + DCO</a:t>
            </a:r>
            <a:endParaRPr lang="en-US" sz="8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3114446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456432" y="293888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4" name="Text 24"/>
          <p:cNvSpPr/>
          <p:nvPr/>
        </p:nvSpPr>
        <p:spPr>
          <a:xfrm>
            <a:off x="3456432" y="311261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Distributes via a 3rd-party CFTC venue; owns no exchange.</a:t>
            </a:r>
            <a:endParaRPr lang="en-US" sz="88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3114446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223760" y="293888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7223760" y="311261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Rothera (DCM + DCO via MIAXdx) — now 3rd-largest US exchange.</a:t>
            </a:r>
            <a:endParaRPr lang="en-US" sz="880" dirty="0"/>
          </a:p>
        </p:txBody>
      </p:sp>
      <p:sp>
        <p:nvSpPr>
          <p:cNvPr id="38" name="Text 27"/>
          <p:cNvSpPr/>
          <p:nvPr/>
        </p:nvSpPr>
        <p:spPr>
          <a:xfrm>
            <a:off x="10469880" y="309615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548640" y="3683203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48640" y="3792931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— economics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548640" y="4030675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capture</a:t>
            </a:r>
            <a:endParaRPr lang="en-US" sz="85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520" y="3977640"/>
            <a:ext cx="274320" cy="27432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456432" y="3802075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44" name="Text 32"/>
          <p:cNvSpPr/>
          <p:nvPr/>
        </p:nvSpPr>
        <p:spPr>
          <a:xfrm>
            <a:off x="3456432" y="3975811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~$100mn annualized run-rate.</a:t>
            </a:r>
            <a:endParaRPr lang="en-US" sz="88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4848" y="3977640"/>
            <a:ext cx="274320" cy="27432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223760" y="3802075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47" name="Text 34"/>
          <p:cNvSpPr/>
          <p:nvPr/>
        </p:nvSpPr>
        <p:spPr>
          <a:xfrm>
            <a:off x="7223760" y="3975811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$156mn in Q2'26 (~$625mn ann.) — now exceeds crypto revenue.</a:t>
            </a:r>
            <a:endParaRPr lang="en-US" sz="880" dirty="0"/>
          </a:p>
        </p:txBody>
      </p:sp>
      <p:sp>
        <p:nvSpPr>
          <p:cNvPr id="48" name="Text 35"/>
          <p:cNvSpPr/>
          <p:nvPr/>
        </p:nvSpPr>
        <p:spPr>
          <a:xfrm>
            <a:off x="10469880" y="39593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548640" y="4546397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548640" y="4656125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US equities</a:t>
            </a:r>
            <a:endParaRPr lang="en-US" sz="1100" dirty="0"/>
          </a:p>
        </p:txBody>
      </p:sp>
      <p:sp>
        <p:nvSpPr>
          <p:cNvPr id="51" name="Text 38"/>
          <p:cNvSpPr/>
          <p:nvPr/>
        </p:nvSpPr>
        <p:spPr>
          <a:xfrm>
            <a:off x="548640" y="4893869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85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7520" y="4840834"/>
            <a:ext cx="274320" cy="27432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3456432" y="4665269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PLANNED</a:t>
            </a:r>
            <a:endParaRPr lang="en-US" sz="800" dirty="0"/>
          </a:p>
        </p:txBody>
      </p:sp>
      <p:sp>
        <p:nvSpPr>
          <p:cNvPr id="54" name="Text 40"/>
          <p:cNvSpPr/>
          <p:nvPr/>
        </p:nvSpPr>
        <p:spPr>
          <a:xfrm>
            <a:off x="3456432" y="4839005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1:1-backed with on-chain dividends (Jun'26); non-US first, no US date.</a:t>
            </a:r>
            <a:endParaRPr lang="en-US" sz="88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4848" y="4840834"/>
            <a:ext cx="274320" cy="27432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7223760" y="4665269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ONLY</a:t>
            </a:r>
            <a:endParaRPr lang="en-US" sz="800" dirty="0"/>
          </a:p>
        </p:txBody>
      </p:sp>
      <p:sp>
        <p:nvSpPr>
          <p:cNvPr id="57" name="Text 42"/>
          <p:cNvSpPr/>
          <p:nvPr/>
        </p:nvSpPr>
        <p:spPr>
          <a:xfrm>
            <a:off x="7223760" y="4839005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US stocks / ETFs tokenized (Jun'25), 30 EU / EEA countries.</a:t>
            </a:r>
            <a:endParaRPr lang="en-US" sz="880" dirty="0"/>
          </a:p>
        </p:txBody>
      </p:sp>
      <p:sp>
        <p:nvSpPr>
          <p:cNvPr id="58" name="Text 43"/>
          <p:cNvSpPr/>
          <p:nvPr/>
        </p:nvSpPr>
        <p:spPr>
          <a:xfrm>
            <a:off x="10469880" y="482254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50" dirty="0"/>
          </a:p>
        </p:txBody>
      </p:sp>
      <p:sp>
        <p:nvSpPr>
          <p:cNvPr id="59" name="Shape 44"/>
          <p:cNvSpPr/>
          <p:nvPr/>
        </p:nvSpPr>
        <p:spPr>
          <a:xfrm>
            <a:off x="548640" y="5409590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60" name="Text 45"/>
          <p:cNvSpPr/>
          <p:nvPr/>
        </p:nvSpPr>
        <p:spPr>
          <a:xfrm>
            <a:off x="548640" y="551931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platform &amp; L2</a:t>
            </a:r>
            <a:endParaRPr lang="en-US" sz="1100" dirty="0"/>
          </a:p>
        </p:txBody>
      </p:sp>
      <p:sp>
        <p:nvSpPr>
          <p:cNvPr id="61" name="Text 46"/>
          <p:cNvSpPr/>
          <p:nvPr/>
        </p:nvSpPr>
        <p:spPr>
          <a:xfrm>
            <a:off x="548640" y="575706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infrastructure</a:t>
            </a:r>
            <a:endParaRPr lang="en-US" sz="850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17520" y="5704027"/>
            <a:ext cx="274320" cy="274320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3456432" y="552846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4" name="Text 48"/>
          <p:cNvSpPr/>
          <p:nvPr/>
        </p:nvSpPr>
        <p:spPr>
          <a:xfrm>
            <a:off x="3456432" y="570219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Tokenize (institutional RWA) on Base — mature, real usage.</a:t>
            </a:r>
            <a:endParaRPr lang="en-US" sz="880" dirty="0"/>
          </a:p>
        </p:txBody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4848" y="5704027"/>
            <a:ext cx="274320" cy="274320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7223760" y="552846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7" name="Text 50"/>
          <p:cNvSpPr/>
          <p:nvPr/>
        </p:nvSpPr>
        <p:spPr>
          <a:xfrm>
            <a:off x="7223760" y="570219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Chain (Arbitrum); fast DAU but &gt;80% memecoins; RWA EU-facing.</a:t>
            </a:r>
            <a:endParaRPr lang="en-US" sz="880" dirty="0"/>
          </a:p>
        </p:txBody>
      </p:sp>
      <p:sp>
        <p:nvSpPr>
          <p:cNvPr id="68" name="Text 51"/>
          <p:cNvSpPr/>
          <p:nvPr/>
        </p:nvSpPr>
        <p:spPr>
          <a:xfrm>
            <a:off x="10469880" y="5685739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even</a:t>
            </a:r>
            <a:endParaRPr lang="en-US" sz="900" dirty="0"/>
          </a:p>
        </p:txBody>
      </p:sp>
      <p:sp>
        <p:nvSpPr>
          <p:cNvPr id="69" name="Shape 52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70" name="Text 53"/>
          <p:cNvSpPr/>
          <p:nvPr/>
        </p:nvSpPr>
        <p:spPr>
          <a:xfrm>
            <a:off x="548640" y="649224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IR &amp; Q2'26 results; Coinbase &amp; Robinhood newsrooms; CFTC actions; press. Position marks are editorial judgment on the product-velocity framework.</a:t>
            </a:r>
            <a:endParaRPr lang="en-US" sz="700" dirty="0"/>
          </a:p>
        </p:txBody>
      </p:sp>
      <p:sp>
        <p:nvSpPr>
          <p:cNvPr id="71" name="Text 54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vs. HOOD  ·  Product teardown</a:t>
            </a:r>
            <a:pPr algn="r" indent="0" marL="0">
              <a:buNone/>
            </a:pPr>
            <a:r>
              <a:rPr lang="en-US" sz="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Exhibit 3 /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4  ·  STABLECOINS &amp; PAYMENTS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Coinbase's structural moat — Robinhood is barely in the arena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economics and the x402 agentic rail are Coinbase's to lose; the open question is how fast it monetizes the developer / agent layer.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45720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0839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7200"/>
            <a:ext cx="137160" cy="137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135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457200"/>
            <a:ext cx="137160" cy="137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5431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457200"/>
            <a:ext cx="137160" cy="1371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7727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457200"/>
            <a:ext cx="137160" cy="1371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00023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750" dirty="0"/>
          </a:p>
        </p:txBody>
      </p:sp>
      <p:sp>
        <p:nvSpPr>
          <p:cNvPr id="15" name="Text 8"/>
          <p:cNvSpPr/>
          <p:nvPr/>
        </p:nvSpPr>
        <p:spPr>
          <a:xfrm>
            <a:off x="548640" y="15910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3017520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</a:t>
            </a:r>
            <a:pPr indent="0" marL="0">
              <a:buNone/>
            </a:pPr>
            <a:r>
              <a:rPr lang="en-US" sz="105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(COIN)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784848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</a:t>
            </a:r>
            <a:pPr indent="0" marL="0">
              <a:buNone/>
            </a:pPr>
            <a:r>
              <a:rPr lang="en-US" sz="105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(HOOD)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10469880" y="15910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548640" y="1883664"/>
            <a:ext cx="11064240" cy="0"/>
          </a:xfrm>
          <a:prstGeom prst="line">
            <a:avLst/>
          </a:prstGeom>
          <a:noFill/>
          <a:ln w="12700">
            <a:solidFill>
              <a:srgbClr val="14202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48640" y="2066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economics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float &amp; yield</a:t>
            </a:r>
            <a:endParaRPr lang="en-US" sz="8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2359152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456432" y="20756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· LIVE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3456432" y="2249424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(Circle partner): ~50% of USDC economics, $20bn held, &gt;30% of float.</a:t>
            </a:r>
            <a:endParaRPr lang="en-US" sz="88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2359152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23760" y="20756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7223760" y="2249424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first-party stablecoin; USDG consortium participant only.</a:t>
            </a:r>
            <a:endParaRPr lang="en-US" sz="880" dirty="0"/>
          </a:p>
        </p:txBody>
      </p:sp>
      <p:sp>
        <p:nvSpPr>
          <p:cNvPr id="28" name="Text 19"/>
          <p:cNvSpPr/>
          <p:nvPr/>
        </p:nvSpPr>
        <p:spPr>
          <a:xfrm>
            <a:off x="10469880" y="234086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548640" y="3035808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548640" y="31455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payments (x402)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4864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/ agent rails</a:t>
            </a:r>
            <a:endParaRPr lang="en-US" sz="8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3438144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456432" y="3154680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· LIVE</a:t>
            </a:r>
            <a:endParaRPr lang="en-US" sz="800" dirty="0"/>
          </a:p>
        </p:txBody>
      </p:sp>
      <p:sp>
        <p:nvSpPr>
          <p:cNvPr id="34" name="Text 24"/>
          <p:cNvSpPr/>
          <p:nvPr/>
        </p:nvSpPr>
        <p:spPr>
          <a:xfrm>
            <a:off x="3456432" y="3328416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(Coinbase-built); 97%+ of onchain agentic transactions; monetization early.</a:t>
            </a:r>
            <a:endParaRPr lang="en-US" sz="88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3438144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223760" y="3154680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7223760" y="3328416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offered.</a:t>
            </a:r>
            <a:endParaRPr lang="en-US" sz="880" dirty="0"/>
          </a:p>
        </p:txBody>
      </p:sp>
      <p:sp>
        <p:nvSpPr>
          <p:cNvPr id="38" name="Text 27"/>
          <p:cNvSpPr/>
          <p:nvPr/>
        </p:nvSpPr>
        <p:spPr>
          <a:xfrm>
            <a:off x="10469880" y="341985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548640" y="4114800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48640" y="4224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payments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548640" y="44622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infrastructure</a:t>
            </a:r>
            <a:endParaRPr lang="en-US" sz="85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520" y="4517136"/>
            <a:ext cx="274320" cy="27432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456432" y="423367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44" name="Text 32"/>
          <p:cNvSpPr/>
          <p:nvPr/>
        </p:nvSpPr>
        <p:spPr>
          <a:xfrm>
            <a:off x="3456432" y="440740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Commerce + x402 facilitator; Marex USDC collateral.</a:t>
            </a:r>
            <a:endParaRPr lang="en-US" sz="88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4848" y="4517136"/>
            <a:ext cx="274320" cy="27432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223760" y="423367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7" name="Text 34"/>
          <p:cNvSpPr/>
          <p:nvPr/>
        </p:nvSpPr>
        <p:spPr>
          <a:xfrm>
            <a:off x="7223760" y="440740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comparable merchant-payments stack.</a:t>
            </a:r>
            <a:endParaRPr lang="en-US" sz="880" dirty="0"/>
          </a:p>
        </p:txBody>
      </p:sp>
      <p:sp>
        <p:nvSpPr>
          <p:cNvPr id="48" name="Text 35"/>
          <p:cNvSpPr/>
          <p:nvPr/>
        </p:nvSpPr>
        <p:spPr>
          <a:xfrm>
            <a:off x="10469880" y="44988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548640" y="5193792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548640" y="5303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card</a:t>
            </a:r>
            <a:endParaRPr lang="en-US" sz="1100" dirty="0"/>
          </a:p>
        </p:txBody>
      </p:sp>
      <p:sp>
        <p:nvSpPr>
          <p:cNvPr id="51" name="Text 38"/>
          <p:cNvSpPr/>
          <p:nvPr/>
        </p:nvSpPr>
        <p:spPr>
          <a:xfrm>
            <a:off x="548640" y="55412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/ rewards</a:t>
            </a:r>
            <a:endParaRPr lang="en-US" sz="85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7520" y="5596128"/>
            <a:ext cx="274320" cy="27432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3456432" y="5312664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54" name="Text 40"/>
          <p:cNvSpPr/>
          <p:nvPr/>
        </p:nvSpPr>
        <p:spPr>
          <a:xfrm>
            <a:off x="3456432" y="5486400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Card — BTC rewards, 5% on travel, USDC-backed variant.</a:t>
            </a:r>
            <a:endParaRPr lang="en-US" sz="88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4848" y="5596128"/>
            <a:ext cx="274320" cy="27432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7223760" y="5312664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57" name="Text 42"/>
          <p:cNvSpPr/>
          <p:nvPr/>
        </p:nvSpPr>
        <p:spPr>
          <a:xfrm>
            <a:off x="7223760" y="5486400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/ Platinum credit cards; scaled to 100k+ users.</a:t>
            </a:r>
            <a:endParaRPr lang="en-US" sz="880" dirty="0"/>
          </a:p>
        </p:txBody>
      </p:sp>
      <p:sp>
        <p:nvSpPr>
          <p:cNvPr id="58" name="Text 43"/>
          <p:cNvSpPr/>
          <p:nvPr/>
        </p:nvSpPr>
        <p:spPr>
          <a:xfrm>
            <a:off x="10469880" y="55778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even</a:t>
            </a:r>
            <a:endParaRPr lang="en-US" sz="900" dirty="0"/>
          </a:p>
        </p:txBody>
      </p:sp>
      <p:sp>
        <p:nvSpPr>
          <p:cNvPr id="59" name="Shape 44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60" name="Text 45"/>
          <p:cNvSpPr/>
          <p:nvPr/>
        </p:nvSpPr>
        <p:spPr>
          <a:xfrm>
            <a:off x="548640" y="649224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IR &amp; Q2'26 results; Coinbase &amp; Robinhood newsrooms; CFTC actions; press. Position marks are editorial judgment on the product-velocity framework.</a:t>
            </a:r>
            <a:endParaRPr lang="en-US" sz="700" dirty="0"/>
          </a:p>
        </p:txBody>
      </p:sp>
      <p:sp>
        <p:nvSpPr>
          <p:cNvPr id="61" name="Text 46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vs. HOOD  ·  Product teardown</a:t>
            </a:r>
            <a:pPr algn="r" indent="0" marL="0">
              <a:buNone/>
            </a:pPr>
            <a:r>
              <a:rPr lang="en-US" sz="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Exhibit 4 / 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5  ·  WEALTH, BANKING &amp; CONSUMER FINANCE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breadth gap — an entire surface Coinbase does not touch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heart of the thesis: Robinhood has built a full consumer-finance stack, while Coinbase offers almost none of it.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457200"/>
            <a:ext cx="137160" cy="137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0839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7200"/>
            <a:ext cx="137160" cy="137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135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457200"/>
            <a:ext cx="137160" cy="137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5431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457200"/>
            <a:ext cx="137160" cy="1371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7727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457200"/>
            <a:ext cx="137160" cy="1371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000232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750" dirty="0"/>
          </a:p>
        </p:txBody>
      </p:sp>
      <p:sp>
        <p:nvSpPr>
          <p:cNvPr id="15" name="Text 8"/>
          <p:cNvSpPr/>
          <p:nvPr/>
        </p:nvSpPr>
        <p:spPr>
          <a:xfrm>
            <a:off x="548640" y="15910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3017520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</a:t>
            </a:r>
            <a:pPr indent="0" marL="0">
              <a:buNone/>
            </a:pPr>
            <a:r>
              <a:rPr lang="en-US" sz="105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(COIN)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784848" y="1591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</a:t>
            </a:r>
            <a:pPr indent="0" marL="0">
              <a:buNone/>
            </a:pPr>
            <a:r>
              <a:rPr lang="en-US" sz="105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(HOOD)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10469880" y="15910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548640" y="1883664"/>
            <a:ext cx="11064240" cy="0"/>
          </a:xfrm>
          <a:prstGeom prst="line">
            <a:avLst/>
          </a:prstGeom>
          <a:noFill/>
          <a:ln w="12700">
            <a:solidFill>
              <a:srgbClr val="14202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48640" y="2066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portfolios / robo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8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2251253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456432" y="20756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3456432" y="2249424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Advisor — SEC-registered AI adviser (portfolio + tax-loss harvesting).</a:t>
            </a:r>
            <a:endParaRPr lang="en-US" sz="88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2251253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23760" y="2075688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7223760" y="2249424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Strategies — managed portfolios; deeper wealth product.</a:t>
            </a:r>
            <a:endParaRPr lang="en-US" sz="880" dirty="0"/>
          </a:p>
        </p:txBody>
      </p:sp>
      <p:sp>
        <p:nvSpPr>
          <p:cNvPr id="28" name="Text 19"/>
          <p:cNvSpPr/>
          <p:nvPr/>
        </p:nvSpPr>
        <p:spPr>
          <a:xfrm>
            <a:off x="10469880" y="2232965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548640" y="2820010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548640" y="292973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48640" y="316748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/ savings</a:t>
            </a:r>
            <a:endParaRPr lang="en-US" sz="8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3114446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456432" y="293888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4" name="Text 24"/>
          <p:cNvSpPr/>
          <p:nvPr/>
        </p:nvSpPr>
        <p:spPr>
          <a:xfrm>
            <a:off x="3456432" y="311261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offered.</a:t>
            </a:r>
            <a:endParaRPr lang="en-US" sz="88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3114446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223760" y="293888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7223760" y="311261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Banking (Gold): 4% APY, private-banking perks.</a:t>
            </a:r>
            <a:endParaRPr lang="en-US" sz="880" dirty="0"/>
          </a:p>
        </p:txBody>
      </p:sp>
      <p:sp>
        <p:nvSpPr>
          <p:cNvPr id="38" name="Text 27"/>
          <p:cNvSpPr/>
          <p:nvPr/>
        </p:nvSpPr>
        <p:spPr>
          <a:xfrm>
            <a:off x="10469880" y="309615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548640" y="3683203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48640" y="3792931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/ IRA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548640" y="4030675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accounts</a:t>
            </a:r>
            <a:endParaRPr lang="en-US" sz="85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520" y="3977640"/>
            <a:ext cx="274320" cy="27432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456432" y="3802075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Text 32"/>
          <p:cNvSpPr/>
          <p:nvPr/>
        </p:nvSpPr>
        <p:spPr>
          <a:xfrm>
            <a:off x="3456432" y="3975811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offered.</a:t>
            </a:r>
            <a:endParaRPr lang="en-US" sz="88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4848" y="3977640"/>
            <a:ext cx="274320" cy="27432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223760" y="3802075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47" name="Text 34"/>
          <p:cNvSpPr/>
          <p:nvPr/>
        </p:nvSpPr>
        <p:spPr>
          <a:xfrm>
            <a:off x="7223760" y="3975811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 with 3% match; custodial &amp; trust accounts (Mar'26).</a:t>
            </a:r>
            <a:endParaRPr lang="en-US" sz="880" dirty="0"/>
          </a:p>
        </p:txBody>
      </p:sp>
      <p:sp>
        <p:nvSpPr>
          <p:cNvPr id="48" name="Text 35"/>
          <p:cNvSpPr/>
          <p:nvPr/>
        </p:nvSpPr>
        <p:spPr>
          <a:xfrm>
            <a:off x="10469880" y="39593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548640" y="4546397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548640" y="4656125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RIA custody</a:t>
            </a:r>
            <a:endParaRPr lang="en-US" sz="1100" dirty="0"/>
          </a:p>
        </p:txBody>
      </p:sp>
      <p:sp>
        <p:nvSpPr>
          <p:cNvPr id="51" name="Text 38"/>
          <p:cNvSpPr/>
          <p:nvPr/>
        </p:nvSpPr>
        <p:spPr>
          <a:xfrm>
            <a:off x="548640" y="4893869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adviser channel</a:t>
            </a:r>
            <a:endParaRPr lang="en-US" sz="85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7520" y="4840834"/>
            <a:ext cx="274320" cy="27432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3456432" y="4665269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4" name="Text 40"/>
          <p:cNvSpPr/>
          <p:nvPr/>
        </p:nvSpPr>
        <p:spPr>
          <a:xfrm>
            <a:off x="3456432" y="4839005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offered.</a:t>
            </a:r>
            <a:endParaRPr lang="en-US" sz="88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4848" y="4840834"/>
            <a:ext cx="274320" cy="27432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7223760" y="4665269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57" name="Text 42"/>
          <p:cNvSpPr/>
          <p:nvPr/>
        </p:nvSpPr>
        <p:spPr>
          <a:xfrm>
            <a:off x="7223760" y="4839005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TradePMR — RIA custody platform (&gt;$40bn).</a:t>
            </a:r>
            <a:endParaRPr lang="en-US" sz="880" dirty="0"/>
          </a:p>
        </p:txBody>
      </p:sp>
      <p:sp>
        <p:nvSpPr>
          <p:cNvPr id="58" name="Text 43"/>
          <p:cNvSpPr/>
          <p:nvPr/>
        </p:nvSpPr>
        <p:spPr>
          <a:xfrm>
            <a:off x="10469880" y="482254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50" dirty="0"/>
          </a:p>
        </p:txBody>
      </p:sp>
      <p:sp>
        <p:nvSpPr>
          <p:cNvPr id="59" name="Shape 44"/>
          <p:cNvSpPr/>
          <p:nvPr/>
        </p:nvSpPr>
        <p:spPr>
          <a:xfrm>
            <a:off x="548640" y="5409590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60" name="Text 45"/>
          <p:cNvSpPr/>
          <p:nvPr/>
        </p:nvSpPr>
        <p:spPr>
          <a:xfrm>
            <a:off x="548640" y="551931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&amp; subscription</a:t>
            </a:r>
            <a:endParaRPr lang="en-US" sz="1100" dirty="0"/>
          </a:p>
        </p:txBody>
      </p:sp>
      <p:sp>
        <p:nvSpPr>
          <p:cNvPr id="61" name="Text 46"/>
          <p:cNvSpPr/>
          <p:nvPr/>
        </p:nvSpPr>
        <p:spPr>
          <a:xfrm>
            <a:off x="548640" y="575706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850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17520" y="5704027"/>
            <a:ext cx="274320" cy="274320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3456432" y="552846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64" name="Text 48"/>
          <p:cNvSpPr/>
          <p:nvPr/>
        </p:nvSpPr>
        <p:spPr>
          <a:xfrm>
            <a:off x="3456432" y="570219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Advisor + autonomous agents; Coinbase One subscription.</a:t>
            </a:r>
            <a:endParaRPr lang="en-US" sz="880" dirty="0"/>
          </a:p>
        </p:txBody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4848" y="5704027"/>
            <a:ext cx="274320" cy="274320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7223760" y="552846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LIVE</a:t>
            </a:r>
            <a:endParaRPr lang="en-US" sz="800" dirty="0"/>
          </a:p>
        </p:txBody>
      </p:sp>
      <p:sp>
        <p:nvSpPr>
          <p:cNvPr id="67" name="Text 50"/>
          <p:cNvSpPr/>
          <p:nvPr/>
        </p:nvSpPr>
        <p:spPr>
          <a:xfrm>
            <a:off x="7223760" y="5702198"/>
            <a:ext cx="3035808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880" dirty="0">
                <a:solidFill>
                  <a:srgbClr val="3C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AI research digests; Robinhood Gold ($5 / mo).</a:t>
            </a:r>
            <a:endParaRPr lang="en-US" sz="880" dirty="0"/>
          </a:p>
        </p:txBody>
      </p:sp>
      <p:sp>
        <p:nvSpPr>
          <p:cNvPr id="68" name="Text 51"/>
          <p:cNvSpPr/>
          <p:nvPr/>
        </p:nvSpPr>
        <p:spPr>
          <a:xfrm>
            <a:off x="10469880" y="5685739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even</a:t>
            </a:r>
            <a:endParaRPr lang="en-US" sz="900" dirty="0"/>
          </a:p>
        </p:txBody>
      </p:sp>
      <p:sp>
        <p:nvSpPr>
          <p:cNvPr id="69" name="Shape 52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9525">
            <a:solidFill>
              <a:srgbClr val="DCE2EA"/>
            </a:solidFill>
            <a:prstDash val="solid"/>
          </a:ln>
        </p:spPr>
      </p:sp>
      <p:sp>
        <p:nvSpPr>
          <p:cNvPr id="70" name="Text 53"/>
          <p:cNvSpPr/>
          <p:nvPr/>
        </p:nvSpPr>
        <p:spPr>
          <a:xfrm>
            <a:off x="548640" y="649224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IR &amp; Q2'26 results; Coinbase &amp; Robinhood newsrooms; CFTC actions; press. Position marks are editorial judgment on the product-velocity framework.</a:t>
            </a:r>
            <a:endParaRPr lang="en-US" sz="700" dirty="0"/>
          </a:p>
        </p:txBody>
      </p:sp>
      <p:sp>
        <p:nvSpPr>
          <p:cNvPr id="71" name="Text 54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vs. HOOD  ·  Product teardown</a:t>
            </a:r>
            <a:pPr algn="r" indent="0" marL="0">
              <a:buNone/>
            </a:pPr>
            <a:r>
              <a:rPr lang="en-US" sz="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Exhibit 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Equity Research</dc:creator>
  <cp:lastModifiedBy>Equity Research</cp:lastModifiedBy>
  <cp:revision>1</cp:revision>
  <dcterms:created xsi:type="dcterms:W3CDTF">2026-08-04T06:25:07Z</dcterms:created>
  <dcterms:modified xsi:type="dcterms:W3CDTF">2026-08-04T06:25:07Z</dcterms:modified>
</cp:coreProperties>
</file>