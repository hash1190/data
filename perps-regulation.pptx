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specifics moved off the slide: BitMEX (2020, $100m), Bitfinex (2016), Deridex and Mango Markets (2023), Binance (2023, $2.7bn), KuCoin (2024). Approval was of KalshiEX's BTCPERP on 29-May-26, with a parallel no-action letter to Coinbase routing US customers to Deribit as foreign futures. CME filed suit 18-Jun-26 on Dodd-Frank swap definition plus an APA arbitrary-and-capricious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863840" y="6446520"/>
            <a:ext cx="822960" cy="182880"/>
          </a:xfrm>
          <a:prstGeom prst="rect">
            <a:avLst/>
          </a:prstGeom>
          <a:noFill/>
          <a:ln/>
        </p:spPr>
        <p:txBody>
          <a:bodyPr wrap="square" lIns="0" tIns="0" rIns="0" bIns="0" rtlCol="0" anchor="ctr"/>
          <a:lstStyle/>
          <a:p>
            <a:pPr algn="r" indent="0" marL="0">
              <a:buNone/>
            </a:pPr>
            <a:r>
              <a:rPr lang="en-US" sz="800" dirty="0">
                <a:solidFill>
                  <a:srgbClr val="808080"/>
                </a:solidFill>
                <a:latin typeface="Arial" pitchFamily="34" charset="0"/>
                <a:ea typeface="Arial" pitchFamily="34" charset="-122"/>
                <a:cs typeface="Arial" pitchFamily="34" charset="-120"/>
              </a:rPr>
              <a:t>1</a:t>
            </a:r>
            <a:endParaRPr lang="en-US" sz="800" dirty="0"/>
          </a:p>
        </p:txBody>
      </p:sp>
      <p:sp>
        <p:nvSpPr>
          <p:cNvPr id="3" name="Text 1"/>
          <p:cNvSpPr txBox="1"/>
          <p:nvPr/>
        </p:nvSpPr>
        <p:spPr>
          <a:xfrm>
            <a:off x="457200" y="292608"/>
            <a:ext cx="8229600" cy="566928"/>
          </a:xfrm>
          <a:prstGeom prst="rect">
            <a:avLst/>
          </a:prstGeom>
          <a:noFill/>
          <a:ln/>
        </p:spPr>
        <p:txBody>
          <a:bodyPr wrap="square" lIns="0" tIns="0" rIns="0" bIns="0" rtlCol="0" anchor="t"/>
          <a:lstStyle/>
          <a:p>
            <a:pPr indent="0" marL="0">
              <a:lnSpc>
                <a:spcPct val="112000"/>
              </a:lnSpc>
              <a:buNone/>
            </a:pPr>
            <a:r>
              <a:rPr lang="en-US" sz="1600" b="1" dirty="0">
                <a:solidFill>
                  <a:srgbClr val="000000"/>
                </a:solidFill>
                <a:latin typeface="Arial" pitchFamily="34" charset="0"/>
                <a:ea typeface="Arial" pitchFamily="34" charset="-122"/>
                <a:cs typeface="Arial" pitchFamily="34" charset="-120"/>
              </a:rPr>
              <a:t>The US never banned perpetuals — its rulebook had no box to put them in, and still does not</a:t>
            </a:r>
            <a:endParaRPr lang="en-US" sz="1600" dirty="0"/>
          </a:p>
        </p:txBody>
      </p:sp>
      <p:sp>
        <p:nvSpPr>
          <p:cNvPr id="4" name="Text 2"/>
          <p:cNvSpPr txBox="1"/>
          <p:nvPr/>
        </p:nvSpPr>
        <p:spPr>
          <a:xfrm>
            <a:off x="457200" y="896112"/>
            <a:ext cx="8229600" cy="219456"/>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The first onshore approval placed perps in the "future" box; a court is now being asked whether they belong in the "swap" box instead</a:t>
            </a:r>
            <a:endParaRPr lang="en-US" sz="9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783080"/>
                <a:gridCol w="3520440"/>
                <a:gridCol w="2926080"/>
              </a:tblGrid>
              <a:tr h="274320">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The question</a:t>
                      </a:r>
                      <a:endParaRPr lang="en-US" sz="9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12060"/>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In plain terms</a:t>
                      </a:r>
                      <a:endParaRPr lang="en-US" sz="9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12060"/>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Why it mattered</a:t>
                      </a:r>
                      <a:endParaRPr lang="en-US" sz="9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12060"/>
                    </a:solidFill>
                  </a:tcPr>
                </a:tc>
              </a:tr>
              <a:tr h="786384">
                <a:tc>
                  <a:txBody>
                    <a:bodyPr/>
                    <a:lstStyle/>
                    <a:p>
                      <a:pPr algn="l" indent="0" marL="0">
                        <a:buNone/>
                      </a:pPr>
                      <a:r>
                        <a:rPr lang="en-US" sz="850" b="1" dirty="0">
                          <a:solidFill>
                            <a:srgbClr val="012060"/>
                          </a:solidFill>
                          <a:latin typeface="Arial" pitchFamily="34" charset="0"/>
                          <a:ea typeface="Arial" pitchFamily="34" charset="-122"/>
                          <a:cs typeface="Arial" pitchFamily="34" charset="-120"/>
                        </a:rPr>
                        <a:t>Why were perps unavailable</a:t>
                      </a:r>
                      <a:endParaRPr lang="en-US" sz="850" dirty="0">
                        <a:latin typeface="Arial" charset="0"/>
                        <a:ea typeface="Arial" charset="0"/>
                        <a:cs typeface="Arial" charset="0"/>
                      </a:endParaRPr>
                    </a:p>
                    <a:p>
                      <a:pPr algn="l" indent="0" marL="0">
                        <a:buNone/>
                      </a:pPr>
                      <a:r>
                        <a:rPr lang="en-US" sz="850" b="1" dirty="0">
                          <a:solidFill>
                            <a:srgbClr val="012060"/>
                          </a:solidFill>
                          <a:latin typeface="Arial" pitchFamily="34" charset="0"/>
                          <a:ea typeface="Arial" pitchFamily="34" charset="-122"/>
                          <a:cs typeface="Arial" pitchFamily="34" charset="-120"/>
                        </a:rPr>
                        <a:t>in the US?</a:t>
                      </a:r>
                      <a:endParaRPr lang="en-US" sz="8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US law sorts derivatives into two boxes. A future must have a settlement date. A swap is two parties exchanging payments to each other. A perpetual has no settlement date, and its funding payments look exactly like a swap. It did not fit either box cleanly.</a:t>
                      </a:r>
                      <a:endParaRPr lang="en-US" sz="8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This was never a ban. It was a classification failure — no venue could register a product the rulebook had no category for.</a:t>
                      </a:r>
                      <a:endParaRPr lang="en-US" sz="8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r>
              <a:tr h="566928">
                <a:tc>
                  <a:txBody>
                    <a:bodyPr/>
                    <a:lstStyle/>
                    <a:p>
                      <a:pPr algn="l" indent="0" marL="0">
                        <a:buNone/>
                      </a:pPr>
                      <a:r>
                        <a:rPr lang="en-US" sz="850" b="1" dirty="0">
                          <a:solidFill>
                            <a:srgbClr val="012060"/>
                          </a:solidFill>
                          <a:latin typeface="Arial" pitchFamily="34" charset="0"/>
                          <a:ea typeface="Arial" pitchFamily="34" charset="-122"/>
                          <a:cs typeface="Arial" pitchFamily="34" charset="-120"/>
                        </a:rPr>
                        <a:t>Then how did the product</a:t>
                      </a:r>
                      <a:endParaRPr lang="en-US" sz="850" dirty="0">
                        <a:latin typeface="Arial" charset="0"/>
                        <a:ea typeface="Arial" charset="0"/>
                        <a:cs typeface="Arial" charset="0"/>
                      </a:endParaRPr>
                    </a:p>
                    <a:p>
                      <a:pPr algn="l" indent="0" marL="0">
                        <a:buNone/>
                      </a:pPr>
                      <a:r>
                        <a:rPr lang="en-US" sz="850" b="1" dirty="0">
                          <a:solidFill>
                            <a:srgbClr val="012060"/>
                          </a:solidFill>
                          <a:latin typeface="Arial" pitchFamily="34" charset="0"/>
                          <a:ea typeface="Arial" pitchFamily="34" charset="-122"/>
                          <a:cs typeface="Arial" pitchFamily="34" charset="-120"/>
                        </a:rPr>
                        <a:t>get so large?</a:t>
                      </a:r>
                      <a:endParaRPr lang="en-US" sz="8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It was built offshore, where the question never came up. Those venues then blocked US users to stay out of reach of American regulators.</a:t>
                      </a:r>
                      <a:endParaRPr lang="en-US" sz="8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The single largest product in crypto trading grew up entirely outside the US — roughly four-fifths of all volume on centralised venues.</a:t>
                      </a:r>
                      <a:endParaRPr lang="en-US" sz="8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r>
              <a:tr h="621792">
                <a:tc>
                  <a:txBody>
                    <a:bodyPr/>
                    <a:lstStyle/>
                    <a:p>
                      <a:pPr algn="l" indent="0" marL="0">
                        <a:buNone/>
                      </a:pPr>
                      <a:r>
                        <a:rPr lang="en-US" sz="850" b="1" dirty="0">
                          <a:solidFill>
                            <a:srgbClr val="012060"/>
                          </a:solidFill>
                          <a:latin typeface="Arial" pitchFamily="34" charset="0"/>
                          <a:ea typeface="Arial" pitchFamily="34" charset="-122"/>
                          <a:cs typeface="Arial" pitchFamily="34" charset="-120"/>
                        </a:rPr>
                        <a:t>What happened to firms that</a:t>
                      </a:r>
                      <a:endParaRPr lang="en-US" sz="850" dirty="0">
                        <a:latin typeface="Arial" charset="0"/>
                        <a:ea typeface="Arial" charset="0"/>
                        <a:cs typeface="Arial" charset="0"/>
                      </a:endParaRPr>
                    </a:p>
                    <a:p>
                      <a:pPr algn="l" indent="0" marL="0">
                        <a:buNone/>
                      </a:pPr>
                      <a:r>
                        <a:rPr lang="en-US" sz="850" b="1" dirty="0">
                          <a:solidFill>
                            <a:srgbClr val="012060"/>
                          </a:solidFill>
                          <a:latin typeface="Arial" pitchFamily="34" charset="0"/>
                          <a:ea typeface="Arial" pitchFamily="34" charset="-122"/>
                          <a:cs typeface="Arial" pitchFamily="34" charset="-120"/>
                        </a:rPr>
                        <a:t>let Americans in?</a:t>
                      </a:r>
                      <a:endParaRPr lang="en-US" sz="8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They were pursued, and in every case the agency argued the same thing: a perpetual is a swap, not a future. Several large offshore venues paid substantial penalties.</a:t>
                      </a:r>
                      <a:endParaRPr lang="en-US" sz="8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Five separate enforcement actions built a consistent official position — perps were swaps, and therefore closed to US retail.</a:t>
                      </a:r>
                      <a:endParaRPr lang="en-US" sz="8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r>
              <a:tr h="786384">
                <a:tc>
                  <a:txBody>
                    <a:bodyPr/>
                    <a:lstStyle/>
                    <a:p>
                      <a:pPr algn="l" indent="0" marL="0">
                        <a:buNone/>
                      </a:pPr>
                      <a:r>
                        <a:rPr lang="en-US" sz="850" b="1" dirty="0">
                          <a:solidFill>
                            <a:srgbClr val="012060"/>
                          </a:solidFill>
                          <a:latin typeface="Arial" pitchFamily="34" charset="0"/>
                          <a:ea typeface="Arial" pitchFamily="34" charset="-122"/>
                          <a:cs typeface="Arial" pitchFamily="34" charset="-120"/>
                        </a:rPr>
                        <a:t>So why did the US</a:t>
                      </a:r>
                      <a:endParaRPr lang="en-US" sz="850" dirty="0">
                        <a:latin typeface="Arial" charset="0"/>
                        <a:ea typeface="Arial" charset="0"/>
                        <a:cs typeface="Arial" charset="0"/>
                      </a:endParaRPr>
                    </a:p>
                    <a:p>
                      <a:pPr algn="l" indent="0" marL="0">
                        <a:buNone/>
                      </a:pPr>
                      <a:r>
                        <a:rPr lang="en-US" sz="850" b="1" dirty="0">
                          <a:solidFill>
                            <a:srgbClr val="012060"/>
                          </a:solidFill>
                          <a:latin typeface="Arial" pitchFamily="34" charset="0"/>
                          <a:ea typeface="Arial" pitchFamily="34" charset="-122"/>
                          <a:cs typeface="Arial" pitchFamily="34" charset="-120"/>
                        </a:rPr>
                        <a:t>change its mind?</a:t>
                      </a:r>
                      <a:endParaRPr lang="en-US" sz="8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Because it had lost the market. The volume, the fees and the price discovery all sat offshore, and domestic firms could not compete for any of it. New leadership judged that a supervised onshore version beat having no onshore version at all.</a:t>
                      </a:r>
                      <a:endParaRPr lang="en-US" sz="8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The first approval worked by placing a perpetual in the "future" box — the same box the agency had spent years arguing it did not fit.</a:t>
                      </a:r>
                      <a:endParaRPr lang="en-US" sz="8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r>
              <a:tr h="603504">
                <a:tc>
                  <a:txBody>
                    <a:bodyPr/>
                    <a:lstStyle/>
                    <a:p>
                      <a:pPr algn="l" indent="0" marL="0">
                        <a:buNone/>
                      </a:pPr>
                      <a:r>
                        <a:rPr lang="en-US" sz="850" b="1" dirty="0">
                          <a:solidFill>
                            <a:srgbClr val="012060"/>
                          </a:solidFill>
                          <a:latin typeface="Arial" pitchFamily="34" charset="0"/>
                          <a:ea typeface="Arial" pitchFamily="34" charset="-122"/>
                          <a:cs typeface="Arial" pitchFamily="34" charset="-120"/>
                        </a:rPr>
                        <a:t>Is the question settled?</a:t>
                      </a:r>
                      <a:endParaRPr lang="en-US" sz="8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No. The largest US derivatives exchange has sued the regulator, arguing the contracts are swaps and pointing at the agency's own record of saying so.</a:t>
                      </a:r>
                      <a:endParaRPr lang="en-US" sz="8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Classification decides margin requirements, effective leverage and tax treatment. It is a live legal question, not a closed one.</a:t>
                      </a:r>
                      <a:endParaRPr lang="en-US" sz="8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r>
            </a:tbl>
          </a:graphicData>
        </a:graphic>
      </p:graphicFrame>
      <p:sp>
        <p:nvSpPr>
          <p:cNvPr id="6" name="Shape 3"/>
          <p:cNvSpPr/>
          <p:nvPr/>
        </p:nvSpPr>
        <p:spPr>
          <a:xfrm>
            <a:off x="457200" y="4956048"/>
            <a:ext cx="8229600" cy="932688"/>
          </a:xfrm>
          <a:prstGeom prst="rect">
            <a:avLst/>
          </a:prstGeom>
          <a:solidFill>
            <a:srgbClr val="FDF4F4"/>
          </a:solidFill>
          <a:ln w="12700">
            <a:solidFill>
              <a:srgbClr val="C00000"/>
            </a:solidFill>
            <a:prstDash val="dash"/>
          </a:ln>
        </p:spPr>
      </p:sp>
      <p:sp>
        <p:nvSpPr>
          <p:cNvPr id="7" name="Text 4"/>
          <p:cNvSpPr txBox="1"/>
          <p:nvPr/>
        </p:nvSpPr>
        <p:spPr>
          <a:xfrm>
            <a:off x="585216" y="5038344"/>
            <a:ext cx="7973568" cy="182880"/>
          </a:xfrm>
          <a:prstGeom prst="rect">
            <a:avLst/>
          </a:prstGeom>
          <a:noFill/>
          <a:ln/>
        </p:spPr>
        <p:txBody>
          <a:bodyPr wrap="square" lIns="0" tIns="0" rIns="0" bIns="0" rtlCol="0" anchor="ctr"/>
          <a:lstStyle/>
          <a:p>
            <a:pPr indent="0" marL="0">
              <a:buNone/>
            </a:pPr>
            <a:r>
              <a:rPr lang="en-US" sz="900" b="1" dirty="0">
                <a:solidFill>
                  <a:srgbClr val="C00000"/>
                </a:solidFill>
                <a:latin typeface="Arial" pitchFamily="34" charset="0"/>
                <a:ea typeface="Arial" pitchFamily="34" charset="-122"/>
                <a:cs typeface="Arial" pitchFamily="34" charset="-120"/>
              </a:rPr>
              <a:t>What this means for Hyperliquid: the onshore product is legitimising, not competing</a:t>
            </a:r>
            <a:endParaRPr lang="en-US" sz="900" dirty="0"/>
          </a:p>
        </p:txBody>
      </p:sp>
      <p:sp>
        <p:nvSpPr>
          <p:cNvPr id="8" name="Text 5"/>
          <p:cNvSpPr txBox="1"/>
          <p:nvPr/>
        </p:nvSpPr>
        <p:spPr>
          <a:xfrm>
            <a:off x="585216" y="5239512"/>
            <a:ext cx="7973568" cy="566928"/>
          </a:xfrm>
          <a:prstGeom prst="rect">
            <a:avLst/>
          </a:prstGeom>
          <a:noFill/>
          <a:ln/>
        </p:spPr>
        <p:txBody>
          <a:bodyPr wrap="square" lIns="0" tIns="0" rIns="0" bIns="0" rtlCol="0" anchor="t"/>
          <a:lstStyle/>
          <a:p>
            <a:pPr indent="0" marL="0">
              <a:lnSpc>
                <a:spcPct val="116000"/>
              </a:lnSpc>
              <a:buNone/>
            </a:pPr>
            <a:r>
              <a:rPr lang="en-US" sz="850" dirty="0">
                <a:solidFill>
                  <a:srgbClr val="000000"/>
                </a:solidFill>
                <a:latin typeface="Arial" pitchFamily="34" charset="0"/>
                <a:ea typeface="Arial" pitchFamily="34" charset="-122"/>
                <a:cs typeface="Arial" pitchFamily="34" charset="-120"/>
              </a:rPr>
              <a:t>The approved onshore contracts come with identity checks, leverage caps and volatility controls. Hyperliquid's users are there for the opposite — self-custody, no identity checks, high leverage and the ability to list markets nobody approved. These are two different products sold to two different customers, and a regulated venue cannot build the second one. So the onshore opening takes aim at offshore centralised exchanges first. The genuine risk is definitional rather than competitive: if perpetuals are reclassified as swaps, the cost base of the entire category rises, onshore and off.</a:t>
            </a:r>
            <a:endParaRPr lang="en-US" sz="850" dirty="0"/>
          </a:p>
        </p:txBody>
      </p:sp>
      <p:sp>
        <p:nvSpPr>
          <p:cNvPr id="9" name="Text 6"/>
          <p:cNvSpPr txBox="1"/>
          <p:nvPr/>
        </p:nvSpPr>
        <p:spPr>
          <a:xfrm>
            <a:off x="457200" y="5980176"/>
            <a:ext cx="8229600" cy="457200"/>
          </a:xfrm>
          <a:prstGeom prst="rect">
            <a:avLst/>
          </a:prstGeom>
          <a:noFill/>
          <a:ln/>
        </p:spPr>
        <p:txBody>
          <a:bodyPr wrap="square" lIns="0" tIns="0" rIns="0" bIns="0" rtlCol="0" anchor="t"/>
          <a:lstStyle/>
          <a:p>
            <a:pPr indent="0" marL="0">
              <a:lnSpc>
                <a:spcPct val="115000"/>
              </a:lnSpc>
              <a:buNone/>
            </a:pPr>
            <a:r>
              <a:rPr lang="en-US" sz="700" i="1" dirty="0">
                <a:solidFill>
                  <a:srgbClr val="7F7F7F"/>
                </a:solidFill>
                <a:latin typeface="Arial" pitchFamily="34" charset="0"/>
                <a:ea typeface="Arial" pitchFamily="34" charset="-122"/>
                <a:cs typeface="Arial" pitchFamily="34" charset="-120"/>
              </a:rPr>
              <a:t>Note: the enabling framework was set out in a regulatory order and accompanying policy statement in May 2026, covering products structured like the approved contract on a registered exchange rather than perpetuals as a category; the regulator has said it expects to address the treatment of perpetuals more generally at a later date. The legal challenge was filed in June 2026 and remains unresolved. Enforcement actions referenced span 2016–2024. Volume share is drawn from 2025 full-year data on centralised venues.</a:t>
            </a:r>
            <a:endParaRPr lang="en-US" sz="700" dirty="0"/>
          </a:p>
          <a:p>
            <a:pPr indent="0" marL="0">
              <a:lnSpc>
                <a:spcPct val="115000"/>
              </a:lnSpc>
              <a:buNone/>
            </a:pPr>
            <a:r>
              <a:rPr lang="en-US" sz="700" i="1" dirty="0">
                <a:solidFill>
                  <a:srgbClr val="7F7F7F"/>
                </a:solidFill>
                <a:latin typeface="Arial" pitchFamily="34" charset="0"/>
                <a:ea typeface="Arial" pitchFamily="34" charset="-122"/>
                <a:cs typeface="Arial" pitchFamily="34" charset="-120"/>
              </a:rPr>
              <a:t>Source: Regulatory orders, policy statement and complaint filings; exchange documentation; industry volume reporting; author analysis.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2026-08-27T16:28:55Z</dcterms:created>
  <dcterms:modified xsi:type="dcterms:W3CDTF">2026-08-27T16:28:55Z</dcterms:modified>
</cp:coreProperties>
</file>