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55448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Fluidstack — Company Snapshot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14800" y="18288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Oxford-founded AI cloud infrastructure platform  |  Est. 2017  |  HQ: New York City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630936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94944"/>
            <a:ext cx="2834640" cy="2029968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694944"/>
            <a:ext cx="2834640" cy="25603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9494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SNAPSHOT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566928" y="996696"/>
            <a:ext cx="2624328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model.  </a:t>
            </a:r>
            <a:pPr indent="0" marL="0">
              <a:buNone/>
            </a:pPr>
            <a:r>
              <a:rPr lang="en-US" sz="8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cloud compute and neocloud capacity for AI training and inference. Aggregates hyperscaler and colocation hardware, packages it as managed clusters for AI labs.
</a:t>
            </a:r>
            <a:pPr indent="0" marL="0">
              <a:buNone/>
            </a:pPr>
            <a:r>
              <a:rPr lang="en-US" sz="88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Founded.  </a:t>
            </a:r>
            <a:pPr indent="0" marL="0">
              <a:buNone/>
            </a:pPr>
            <a:r>
              <a:rPr lang="en-US" sz="8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2017, Oxford University spin-off. Global HQ relocated from London to New York City in 2025.
</a:t>
            </a:r>
            <a:pPr indent="0" marL="0">
              <a:buNone/>
            </a:pPr>
            <a:r>
              <a:rPr lang="en-US" sz="88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GPUs under mgmt.  </a:t>
            </a:r>
            <a:pPr indent="0" marL="0">
              <a:buNone/>
            </a:pPr>
            <a:r>
              <a:rPr lang="en-US" sz="8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100,000+ as of 2025. ARR: $180M (FY2024), representing ~620% YoY growth.
</a:t>
            </a:r>
            <a:pPr indent="0" marL="0">
              <a:buNone/>
            </a:pPr>
            <a:r>
              <a:rPr lang="en-US" sz="88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Contracted capacity.  </a:t>
            </a:r>
            <a:pPr indent="0" marL="0">
              <a:buNone/>
            </a:pPr>
            <a:r>
              <a:rPr lang="en-US" sz="8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~660 MW across CIFR Barber Lake (300 MW) and WULF Lake Mariner (360 MW). WULF Abernathy JV adds ~168 MW on a 25-yr lease (~$9.5Bn contracted).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383280" y="694944"/>
            <a:ext cx="2286000" cy="2029968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694944"/>
            <a:ext cx="2286000" cy="25603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6949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LEADERSHIP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3493008" y="1014984"/>
            <a:ext cx="2075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Gary Wu
</a:t>
            </a:r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Executive Officer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93008" y="1508760"/>
            <a:ext cx="2075688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93008" y="1545336"/>
            <a:ext cx="2075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César Maklary
</a:t>
            </a:r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&amp; President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93008" y="2039112"/>
            <a:ext cx="2075688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93008" y="2075688"/>
            <a:ext cx="20756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 Perdue
</a:t>
            </a:r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Operating Officer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(ex-COO, The Trade Desk — scaled TTD from $1M to $700M ARR)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760720" y="694944"/>
            <a:ext cx="2926080" cy="2029968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760720" y="694944"/>
            <a:ext cx="2926080" cy="25603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69494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&amp; VALUATION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5870448" y="996696"/>
            <a:ext cx="2715768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3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2025  </a:t>
            </a:r>
            <a:pPr indent="0" marL="0"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$200M Series A — led by Cacti (PE).
</a:t>
            </a:r>
            <a:pPr indent="0" marL="0">
              <a:buNone/>
            </a:pPr>
            <a:r>
              <a:rPr lang="en-US" sz="83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2025  </a:t>
            </a:r>
            <a:pPr indent="0" marL="0"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valuation ~$7.5Bn (Bloomberg, Dec 4 2025).
</a:t>
            </a:r>
            <a:pPr indent="0" marL="0">
              <a:buNone/>
            </a:pPr>
            <a:r>
              <a:rPr lang="en-US" sz="83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2026  </a:t>
            </a:r>
            <a:pPr indent="0" marL="0"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$450M equity financing round closed.
</a:t>
            </a:r>
            <a:pPr indent="0" marL="0">
              <a:buNone/>
            </a:pPr>
            <a:r>
              <a:rPr lang="en-US" sz="83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2026  </a:t>
            </a:r>
            <a:pPr indent="0" marL="0"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in discussions to invest ~$100M strategic (SiliconANGLE, Feb 20 2026).
</a:t>
            </a:r>
            <a:pPr indent="0" marL="0">
              <a:buNone/>
            </a:pPr>
            <a:r>
              <a:rPr lang="en-US" sz="83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2026  </a:t>
            </a:r>
            <a:pPr indent="0" marL="0">
              <a:buNone/>
            </a:pPr>
            <a:r>
              <a:rPr lang="en-US" sz="8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talks: $1Bn at ~$18Bn valuation; Jane Street as co-lead (Bloomberg / TechCrunch, Apr 14 2026).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457200" y="2788920"/>
            <a:ext cx="8229600" cy="859536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2788920"/>
            <a:ext cx="8229600" cy="25603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7889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DEVELOPMENTS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475488" y="3090672"/>
            <a:ext cx="20299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2024  </a:t>
            </a:r>
            <a:pPr indent="0" marL="0">
              <a:buNone/>
            </a:pPr>
            <a:r>
              <a:rPr lang="en-US" sz="8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selects Fluidstack to build custom AI data centres in Texas &amp; New York (~$50Bn partnership announced). </a:t>
            </a:r>
            <a:pPr indent="0" marL="0">
              <a:buNone/>
            </a:pPr>
            <a:r>
              <a:rPr lang="en-US" sz="720" i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fluidstack.io/about-us/blog/…anthropic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2514600" y="3090672"/>
            <a:ext cx="0" cy="45720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32888" y="3090672"/>
            <a:ext cx="20299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2025  </a:t>
            </a:r>
            <a:pPr indent="0" marL="0">
              <a:buNone/>
            </a:pPr>
            <a:r>
              <a:rPr lang="en-US" sz="8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with NVIDIA, Dell Technologies &amp; Borealis Data Center to deploy exascale GPU clusters in Europe. </a:t>
            </a:r>
            <a:pPr indent="0" marL="0">
              <a:buNone/>
            </a:pPr>
            <a:r>
              <a:rPr lang="en-US" sz="720" i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fluidstack.io/about-us/blog/…exascale-gpu-clusters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4572000" y="3090672"/>
            <a:ext cx="0" cy="45720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90288" y="3090672"/>
            <a:ext cx="20299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2025  </a:t>
            </a:r>
            <a:pPr indent="0" marL="0">
              <a:buNone/>
            </a:pPr>
            <a:r>
              <a:rPr lang="en-US" sz="8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Macquarie GPU financing deal announced to provide capital for AI lab compute expansion across Europe. </a:t>
            </a:r>
            <a:pPr indent="0" marL="0">
              <a:buNone/>
            </a:pPr>
            <a:r>
              <a:rPr lang="en-US" sz="720" i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fluidstack.io/about-us/blog/…macquarie-gpu-financing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6629400" y="3090672"/>
            <a:ext cx="0" cy="45720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47688" y="3090672"/>
            <a:ext cx="20299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2025  </a:t>
            </a:r>
            <a:pPr indent="0" marL="0">
              <a:buNone/>
            </a:pPr>
            <a:r>
              <a:rPr lang="en-US" sz="82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25-year HPC JV with TeraWulf at Abernathy, TX (168 MW, ~$9.5Bn contracted revenue; Google backstop $1.3Bn). </a:t>
            </a:r>
            <a:pPr indent="0" marL="0">
              <a:buNone/>
            </a:pPr>
            <a:r>
              <a:rPr lang="en-US" sz="720" i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investors.terawulf.com/…detail/121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457200" y="3712464"/>
            <a:ext cx="8229600" cy="1261872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3712464"/>
            <a:ext cx="8229600" cy="25603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7124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&amp; PARTNERS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457200" y="4084320"/>
            <a:ext cx="1136469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ADEE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084320"/>
            <a:ext cx="113646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Poolside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1639389" y="4084320"/>
            <a:ext cx="1136469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ADEE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39389" y="4084320"/>
            <a:ext cx="113646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2821577" y="4084320"/>
            <a:ext cx="1136469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ADEE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21577" y="4084320"/>
            <a:ext cx="113646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Character.AI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4003766" y="4084320"/>
            <a:ext cx="1136469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ADEE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03766" y="4084320"/>
            <a:ext cx="113646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Skild AI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5185954" y="4084320"/>
            <a:ext cx="1136469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ADEE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85954" y="4084320"/>
            <a:ext cx="113646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Cognition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6368143" y="4084320"/>
            <a:ext cx="1136469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ADEE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68143" y="4084320"/>
            <a:ext cx="113646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Kyutai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7550331" y="4084320"/>
            <a:ext cx="1136469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ADEE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50331" y="4084320"/>
            <a:ext cx="113646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Zyphra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457200" y="4529328"/>
            <a:ext cx="13335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ADEE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529328"/>
            <a:ext cx="13335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1836420" y="4529328"/>
            <a:ext cx="13335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ADEE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36420" y="4529328"/>
            <a:ext cx="13335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Hedra</a:t>
            </a:r>
            <a:endParaRPr lang="en-US" sz="880" dirty="0"/>
          </a:p>
        </p:txBody>
      </p:sp>
      <p:sp>
        <p:nvSpPr>
          <p:cNvPr id="53" name="Shape 51"/>
          <p:cNvSpPr/>
          <p:nvPr/>
        </p:nvSpPr>
        <p:spPr>
          <a:xfrm>
            <a:off x="3215640" y="4529328"/>
            <a:ext cx="13335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ADEE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15640" y="4529328"/>
            <a:ext cx="13335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Krisp</a:t>
            </a:r>
            <a:endParaRPr lang="en-US" sz="880" dirty="0"/>
          </a:p>
        </p:txBody>
      </p:sp>
      <p:sp>
        <p:nvSpPr>
          <p:cNvPr id="55" name="Shape 53"/>
          <p:cNvSpPr/>
          <p:nvPr/>
        </p:nvSpPr>
        <p:spPr>
          <a:xfrm>
            <a:off x="4594860" y="4529328"/>
            <a:ext cx="13335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ADEE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94860" y="4529328"/>
            <a:ext cx="13335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Honeywell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5974080" y="4529328"/>
            <a:ext cx="13335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ADEE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74080" y="4529328"/>
            <a:ext cx="13335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880" dirty="0"/>
          </a:p>
        </p:txBody>
      </p:sp>
      <p:sp>
        <p:nvSpPr>
          <p:cNvPr id="59" name="Shape 57"/>
          <p:cNvSpPr/>
          <p:nvPr/>
        </p:nvSpPr>
        <p:spPr>
          <a:xfrm>
            <a:off x="7353300" y="4529328"/>
            <a:ext cx="13335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ADEE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53300" y="4529328"/>
            <a:ext cx="13335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Forest Labs</a:t>
            </a:r>
            <a:endParaRPr lang="en-US" sz="880" dirty="0"/>
          </a:p>
        </p:txBody>
      </p:sp>
      <p:sp>
        <p:nvSpPr>
          <p:cNvPr id="61" name="Text 59"/>
          <p:cNvSpPr/>
          <p:nvPr/>
        </p:nvSpPr>
        <p:spPr>
          <a:xfrm>
            <a:off x="457200" y="4974336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fluidstack.io (official blog / about-us), businesswire.com (20250226026828), bloomberg.com (Dec 4 2025; Apr 14 2026), techcrunch.com (Apr 14 2026), datacenterdynamics.com, siliconangle.com (Feb 20 2026), investors.terawulf.com. ARR / GPU figures: Sacra equity research (Feb 2026 update).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Fluidstack — Company Snapshot</dc:title>
  <dc:subject>PptxGenJS Presentation</dc:subject>
  <dc:creator>PptxGenJS</dc:creator>
  <cp:lastModifiedBy>PptxGenJS</cp:lastModifiedBy>
  <cp:revision>1</cp:revision>
  <dcterms:created xsi:type="dcterms:W3CDTF">2026-05-07T17:50:36Z</dcterms:created>
  <dcterms:modified xsi:type="dcterms:W3CDTF">2026-05-07T17:50:36Z</dcterms:modified>
</cp:coreProperties>
</file>