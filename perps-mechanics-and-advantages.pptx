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863840" y="6446520"/>
            <a:ext cx="822960" cy="182880"/>
          </a:xfrm>
          <a:prstGeom prst="rect">
            <a:avLst/>
          </a:prstGeom>
          <a:noFill/>
          <a:ln/>
        </p:spPr>
        <p:txBody>
          <a:bodyPr wrap="square" lIns="0" tIns="0" rIns="0" bIns="0" rtlCol="0" anchor="ctr"/>
          <a:lstStyle/>
          <a:p>
            <a:pPr algn="r" indent="0" marL="0">
              <a:buNone/>
            </a:pPr>
            <a:r>
              <a:rPr lang="en-US" sz="800" dirty="0">
                <a:solidFill>
                  <a:srgbClr val="808080"/>
                </a:solidFill>
                <a:latin typeface="Arial" pitchFamily="34" charset="0"/>
                <a:ea typeface="Arial" pitchFamily="34" charset="-122"/>
                <a:cs typeface="Arial" pitchFamily="34" charset="-120"/>
              </a:rPr>
              <a:t>1</a:t>
            </a:r>
            <a:endParaRPr lang="en-US" sz="800" dirty="0"/>
          </a:p>
        </p:txBody>
      </p:sp>
      <p:sp>
        <p:nvSpPr>
          <p:cNvPr id="3" name="Text 1"/>
          <p:cNvSpPr txBox="1"/>
          <p:nvPr/>
        </p:nvSpPr>
        <p:spPr>
          <a:xfrm>
            <a:off x="457200" y="292608"/>
            <a:ext cx="8229600" cy="566928"/>
          </a:xfrm>
          <a:prstGeom prst="rect">
            <a:avLst/>
          </a:prstGeom>
          <a:noFill/>
          <a:ln/>
        </p:spPr>
        <p:txBody>
          <a:bodyPr wrap="square" lIns="0" tIns="0" rIns="0" bIns="0" rtlCol="0" anchor="t"/>
          <a:lstStyle/>
          <a:p>
            <a:pPr indent="0" marL="0">
              <a:lnSpc>
                <a:spcPct val="112000"/>
              </a:lnSpc>
              <a:buNone/>
            </a:pPr>
            <a:r>
              <a:rPr lang="en-US" sz="1600" b="1" dirty="0">
                <a:solidFill>
                  <a:srgbClr val="000000"/>
                </a:solidFill>
                <a:latin typeface="Arial" pitchFamily="34" charset="0"/>
                <a:ea typeface="Arial" pitchFamily="34" charset="-122"/>
                <a:cs typeface="Arial" pitchFamily="34" charset="-120"/>
              </a:rPr>
              <a:t>A perpetual is a futures contract with the expiry date removed — funding payments do the job the expiry used to do</a:t>
            </a:r>
            <a:endParaRPr lang="en-US" sz="1600" dirty="0"/>
          </a:p>
        </p:txBody>
      </p:sp>
      <p:sp>
        <p:nvSpPr>
          <p:cNvPr id="4" name="Text 2"/>
          <p:cNvSpPr txBox="1"/>
          <p:nvPr/>
        </p:nvSpPr>
        <p:spPr>
          <a:xfrm>
            <a:off x="457200" y="896112"/>
            <a:ext cx="8229600"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Perps are now roughly 78% of cumulative volume on global centralised crypto derivatives venues</a:t>
            </a:r>
            <a:endParaRPr lang="en-US" sz="950" dirty="0"/>
          </a:p>
        </p:txBody>
      </p:sp>
      <p:sp>
        <p:nvSpPr>
          <p:cNvPr id="5" name="Shape 3"/>
          <p:cNvSpPr/>
          <p:nvPr/>
        </p:nvSpPr>
        <p:spPr>
          <a:xfrm>
            <a:off x="457200" y="1188720"/>
            <a:ext cx="2621585" cy="749808"/>
          </a:xfrm>
          <a:prstGeom prst="rect">
            <a:avLst/>
          </a:prstGeom>
          <a:solidFill>
            <a:srgbClr val="F4F7FB"/>
          </a:solidFill>
          <a:ln w="9525">
            <a:solidFill>
              <a:srgbClr val="012060"/>
            </a:solidFill>
            <a:prstDash val="solid"/>
          </a:ln>
        </p:spPr>
      </p:sp>
      <p:sp>
        <p:nvSpPr>
          <p:cNvPr id="6" name="Text 4"/>
          <p:cNvSpPr txBox="1"/>
          <p:nvPr/>
        </p:nvSpPr>
        <p:spPr>
          <a:xfrm>
            <a:off x="566928" y="1243584"/>
            <a:ext cx="2402129" cy="182880"/>
          </a:xfrm>
          <a:prstGeom prst="rect">
            <a:avLst/>
          </a:prstGeom>
          <a:noFill/>
          <a:ln/>
        </p:spPr>
        <p:txBody>
          <a:bodyPr wrap="square" lIns="0" tIns="0" rIns="0" bIns="0" rtlCol="0" anchor="ctr"/>
          <a:lstStyle/>
          <a:p>
            <a:pPr indent="0" marL="0">
              <a:buNone/>
            </a:pPr>
            <a:r>
              <a:rPr lang="en-US" sz="950" b="1" dirty="0">
                <a:solidFill>
                  <a:srgbClr val="012060"/>
                </a:solidFill>
                <a:latin typeface="Arial" pitchFamily="34" charset="0"/>
                <a:ea typeface="Arial" pitchFamily="34" charset="-122"/>
                <a:cs typeface="Arial" pitchFamily="34" charset="-120"/>
              </a:rPr>
              <a:t>No expiry date</a:t>
            </a:r>
            <a:endParaRPr lang="en-US" sz="950" dirty="0"/>
          </a:p>
        </p:txBody>
      </p:sp>
      <p:sp>
        <p:nvSpPr>
          <p:cNvPr id="7" name="Text 5"/>
          <p:cNvSpPr txBox="1"/>
          <p:nvPr/>
        </p:nvSpPr>
        <p:spPr>
          <a:xfrm>
            <a:off x="566928" y="1435608"/>
            <a:ext cx="2402129" cy="493776"/>
          </a:xfrm>
          <a:prstGeom prst="rect">
            <a:avLst/>
          </a:prstGeom>
          <a:noFill/>
          <a:ln/>
        </p:spPr>
        <p:txBody>
          <a:bodyPr wrap="square" lIns="0" tIns="0" rIns="0" bIns="0" rtlCol="0" anchor="t"/>
          <a:lstStyle/>
          <a:p>
            <a:pPr indent="0" marL="0">
              <a:lnSpc>
                <a:spcPct val="114000"/>
              </a:lnSpc>
              <a:buNone/>
            </a:pPr>
            <a:r>
              <a:rPr lang="en-US" sz="800" dirty="0">
                <a:solidFill>
                  <a:srgbClr val="000000"/>
                </a:solidFill>
                <a:latin typeface="Arial" pitchFamily="34" charset="0"/>
                <a:ea typeface="Arial" pitchFamily="34" charset="-122"/>
                <a:cs typeface="Arial" pitchFamily="34" charset="-120"/>
              </a:rPr>
              <a:t>The contract never settles. Hold a position for a day or a year — there is no roll, no calendar spread, no forced close-out.</a:t>
            </a:r>
            <a:endParaRPr lang="en-US" sz="800" dirty="0"/>
          </a:p>
        </p:txBody>
      </p:sp>
      <p:sp>
        <p:nvSpPr>
          <p:cNvPr id="8" name="Shape 6"/>
          <p:cNvSpPr/>
          <p:nvPr/>
        </p:nvSpPr>
        <p:spPr>
          <a:xfrm>
            <a:off x="3261665" y="1188720"/>
            <a:ext cx="2621585" cy="749808"/>
          </a:xfrm>
          <a:prstGeom prst="rect">
            <a:avLst/>
          </a:prstGeom>
          <a:solidFill>
            <a:srgbClr val="F4F7FB"/>
          </a:solidFill>
          <a:ln w="9525">
            <a:solidFill>
              <a:srgbClr val="012060"/>
            </a:solidFill>
            <a:prstDash val="solid"/>
          </a:ln>
        </p:spPr>
      </p:sp>
      <p:sp>
        <p:nvSpPr>
          <p:cNvPr id="9" name="Text 7"/>
          <p:cNvSpPr txBox="1"/>
          <p:nvPr/>
        </p:nvSpPr>
        <p:spPr>
          <a:xfrm>
            <a:off x="3371393" y="1243584"/>
            <a:ext cx="2402129" cy="182880"/>
          </a:xfrm>
          <a:prstGeom prst="rect">
            <a:avLst/>
          </a:prstGeom>
          <a:noFill/>
          <a:ln/>
        </p:spPr>
        <p:txBody>
          <a:bodyPr wrap="square" lIns="0" tIns="0" rIns="0" bIns="0" rtlCol="0" anchor="ctr"/>
          <a:lstStyle/>
          <a:p>
            <a:pPr indent="0" marL="0">
              <a:buNone/>
            </a:pPr>
            <a:r>
              <a:rPr lang="en-US" sz="950" b="1" dirty="0">
                <a:solidFill>
                  <a:srgbClr val="012060"/>
                </a:solidFill>
                <a:latin typeface="Arial" pitchFamily="34" charset="0"/>
                <a:ea typeface="Arial" pitchFamily="34" charset="-122"/>
                <a:cs typeface="Arial" pitchFamily="34" charset="-120"/>
              </a:rPr>
              <a:t>Margin and leverage</a:t>
            </a:r>
            <a:endParaRPr lang="en-US" sz="950" dirty="0"/>
          </a:p>
        </p:txBody>
      </p:sp>
      <p:sp>
        <p:nvSpPr>
          <p:cNvPr id="10" name="Text 8"/>
          <p:cNvSpPr txBox="1"/>
          <p:nvPr/>
        </p:nvSpPr>
        <p:spPr>
          <a:xfrm>
            <a:off x="3371393" y="1435608"/>
            <a:ext cx="2402129" cy="493776"/>
          </a:xfrm>
          <a:prstGeom prst="rect">
            <a:avLst/>
          </a:prstGeom>
          <a:noFill/>
          <a:ln/>
        </p:spPr>
        <p:txBody>
          <a:bodyPr wrap="square" lIns="0" tIns="0" rIns="0" bIns="0" rtlCol="0" anchor="t"/>
          <a:lstStyle/>
          <a:p>
            <a:pPr indent="0" marL="0">
              <a:lnSpc>
                <a:spcPct val="114000"/>
              </a:lnSpc>
              <a:buNone/>
            </a:pPr>
            <a:r>
              <a:rPr lang="en-US" sz="800" dirty="0">
                <a:solidFill>
                  <a:srgbClr val="000000"/>
                </a:solidFill>
                <a:latin typeface="Arial" pitchFamily="34" charset="0"/>
                <a:ea typeface="Arial" pitchFamily="34" charset="-122"/>
                <a:cs typeface="Arial" pitchFamily="34" charset="-120"/>
              </a:rPr>
              <a:t>Post collateral, not full value. At 10x, $1,000 of margin controls $10,000 of exposure — and a 10% adverse move wipes it out.</a:t>
            </a:r>
            <a:endParaRPr lang="en-US" sz="800" dirty="0"/>
          </a:p>
        </p:txBody>
      </p:sp>
      <p:sp>
        <p:nvSpPr>
          <p:cNvPr id="11" name="Shape 9"/>
          <p:cNvSpPr/>
          <p:nvPr/>
        </p:nvSpPr>
        <p:spPr>
          <a:xfrm>
            <a:off x="6066130" y="1188720"/>
            <a:ext cx="2621585" cy="749808"/>
          </a:xfrm>
          <a:prstGeom prst="rect">
            <a:avLst/>
          </a:prstGeom>
          <a:solidFill>
            <a:srgbClr val="F4F7FB"/>
          </a:solidFill>
          <a:ln w="9525">
            <a:solidFill>
              <a:srgbClr val="012060"/>
            </a:solidFill>
            <a:prstDash val="solid"/>
          </a:ln>
        </p:spPr>
      </p:sp>
      <p:sp>
        <p:nvSpPr>
          <p:cNvPr id="12" name="Text 10"/>
          <p:cNvSpPr txBox="1"/>
          <p:nvPr/>
        </p:nvSpPr>
        <p:spPr>
          <a:xfrm>
            <a:off x="6175858" y="1243584"/>
            <a:ext cx="2402129" cy="182880"/>
          </a:xfrm>
          <a:prstGeom prst="rect">
            <a:avLst/>
          </a:prstGeom>
          <a:noFill/>
          <a:ln/>
        </p:spPr>
        <p:txBody>
          <a:bodyPr wrap="square" lIns="0" tIns="0" rIns="0" bIns="0" rtlCol="0" anchor="ctr"/>
          <a:lstStyle/>
          <a:p>
            <a:pPr indent="0" marL="0">
              <a:buNone/>
            </a:pPr>
            <a:r>
              <a:rPr lang="en-US" sz="950" b="1" dirty="0">
                <a:solidFill>
                  <a:srgbClr val="012060"/>
                </a:solidFill>
                <a:latin typeface="Arial" pitchFamily="34" charset="0"/>
                <a:ea typeface="Arial" pitchFamily="34" charset="-122"/>
                <a:cs typeface="Arial" pitchFamily="34" charset="-120"/>
              </a:rPr>
              <a:t>Funding rate</a:t>
            </a:r>
            <a:endParaRPr lang="en-US" sz="950" dirty="0"/>
          </a:p>
        </p:txBody>
      </p:sp>
      <p:sp>
        <p:nvSpPr>
          <p:cNvPr id="13" name="Text 11"/>
          <p:cNvSpPr txBox="1"/>
          <p:nvPr/>
        </p:nvSpPr>
        <p:spPr>
          <a:xfrm>
            <a:off x="6175858" y="1435608"/>
            <a:ext cx="2402129" cy="493776"/>
          </a:xfrm>
          <a:prstGeom prst="rect">
            <a:avLst/>
          </a:prstGeom>
          <a:noFill/>
          <a:ln/>
        </p:spPr>
        <p:txBody>
          <a:bodyPr wrap="square" lIns="0" tIns="0" rIns="0" bIns="0" rtlCol="0" anchor="t"/>
          <a:lstStyle/>
          <a:p>
            <a:pPr indent="0" marL="0">
              <a:lnSpc>
                <a:spcPct val="114000"/>
              </a:lnSpc>
              <a:buNone/>
            </a:pPr>
            <a:r>
              <a:rPr lang="en-US" sz="800" dirty="0">
                <a:solidFill>
                  <a:srgbClr val="000000"/>
                </a:solidFill>
                <a:latin typeface="Arial" pitchFamily="34" charset="0"/>
                <a:ea typeface="Arial" pitchFamily="34" charset="-122"/>
                <a:cs typeface="Arial" pitchFamily="34" charset="-120"/>
              </a:rPr>
              <a:t>A small payment between longs and shorts at short regular intervals. This is what replaces expiry as the anchor to spot.</a:t>
            </a:r>
            <a:endParaRPr lang="en-US" sz="800" dirty="0"/>
          </a:p>
        </p:txBody>
      </p:sp>
      <p:sp>
        <p:nvSpPr>
          <p:cNvPr id="14" name="Text 12"/>
          <p:cNvSpPr txBox="1"/>
          <p:nvPr/>
        </p:nvSpPr>
        <p:spPr>
          <a:xfrm>
            <a:off x="457200" y="1993392"/>
            <a:ext cx="8229600" cy="201168"/>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How the funding rate keeps a contract with no expiry tethered to spot</a:t>
            </a:r>
            <a:endParaRPr lang="en-US" sz="950" dirty="0"/>
          </a:p>
        </p:txBody>
      </p:sp>
      <p:sp>
        <p:nvSpPr>
          <p:cNvPr id="15" name="Shape 13"/>
          <p:cNvSpPr/>
          <p:nvPr/>
        </p:nvSpPr>
        <p:spPr>
          <a:xfrm>
            <a:off x="457200" y="2231136"/>
            <a:ext cx="3977640" cy="274320"/>
          </a:xfrm>
          <a:prstGeom prst="rect">
            <a:avLst/>
          </a:prstGeom>
          <a:solidFill>
            <a:srgbClr val="C00000"/>
          </a:solidFill>
          <a:ln/>
        </p:spPr>
      </p:sp>
      <p:sp>
        <p:nvSpPr>
          <p:cNvPr id="16" name="Text 14"/>
          <p:cNvSpPr txBox="1"/>
          <p:nvPr/>
        </p:nvSpPr>
        <p:spPr>
          <a:xfrm>
            <a:off x="457200" y="2258568"/>
            <a:ext cx="39776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Perp trades ABOVE spot  —  longs are crowded</a:t>
            </a:r>
            <a:endParaRPr lang="en-US" sz="900" dirty="0"/>
          </a:p>
        </p:txBody>
      </p:sp>
      <p:sp>
        <p:nvSpPr>
          <p:cNvPr id="17" name="Shape 15"/>
          <p:cNvSpPr/>
          <p:nvPr/>
        </p:nvSpPr>
        <p:spPr>
          <a:xfrm>
            <a:off x="1024128" y="2734056"/>
            <a:ext cx="3108960" cy="0"/>
          </a:xfrm>
          <a:prstGeom prst="line">
            <a:avLst/>
          </a:prstGeom>
          <a:noFill/>
          <a:ln w="28575">
            <a:solidFill>
              <a:srgbClr val="C00000"/>
            </a:solidFill>
            <a:prstDash val="solid"/>
          </a:ln>
        </p:spPr>
      </p:sp>
      <p:sp>
        <p:nvSpPr>
          <p:cNvPr id="18" name="Text 16"/>
          <p:cNvSpPr txBox="1"/>
          <p:nvPr/>
        </p:nvSpPr>
        <p:spPr>
          <a:xfrm>
            <a:off x="475488" y="2633472"/>
            <a:ext cx="566928" cy="182880"/>
          </a:xfrm>
          <a:prstGeom prst="rect">
            <a:avLst/>
          </a:prstGeom>
          <a:noFill/>
          <a:ln/>
        </p:spPr>
        <p:txBody>
          <a:bodyPr wrap="square" lIns="0" tIns="0" rIns="0" bIns="0" rtlCol="0" anchor="ctr"/>
          <a:lstStyle/>
          <a:p>
            <a:pPr algn="r" indent="0" marL="0">
              <a:buNone/>
            </a:pPr>
            <a:r>
              <a:rPr lang="en-US" sz="750" b="1" dirty="0">
                <a:solidFill>
                  <a:srgbClr val="C00000"/>
                </a:solidFill>
                <a:latin typeface="Arial" pitchFamily="34" charset="0"/>
                <a:ea typeface="Arial" pitchFamily="34" charset="-122"/>
                <a:cs typeface="Arial" pitchFamily="34" charset="-120"/>
              </a:rPr>
              <a:t>Perp price</a:t>
            </a:r>
            <a:endParaRPr lang="en-US" sz="750" dirty="0"/>
          </a:p>
        </p:txBody>
      </p:sp>
      <p:sp>
        <p:nvSpPr>
          <p:cNvPr id="19" name="Shape 17"/>
          <p:cNvSpPr/>
          <p:nvPr/>
        </p:nvSpPr>
        <p:spPr>
          <a:xfrm>
            <a:off x="1024128" y="3255264"/>
            <a:ext cx="3108960" cy="0"/>
          </a:xfrm>
          <a:prstGeom prst="line">
            <a:avLst/>
          </a:prstGeom>
          <a:noFill/>
          <a:ln w="19050">
            <a:solidFill>
              <a:srgbClr val="808080"/>
            </a:solidFill>
            <a:prstDash val="dash"/>
          </a:ln>
        </p:spPr>
      </p:sp>
      <p:sp>
        <p:nvSpPr>
          <p:cNvPr id="20" name="Text 18"/>
          <p:cNvSpPr txBox="1"/>
          <p:nvPr/>
        </p:nvSpPr>
        <p:spPr>
          <a:xfrm>
            <a:off x="475488" y="3154680"/>
            <a:ext cx="566928" cy="182880"/>
          </a:xfrm>
          <a:prstGeom prst="rect">
            <a:avLst/>
          </a:prstGeom>
          <a:noFill/>
          <a:ln/>
        </p:spPr>
        <p:txBody>
          <a:bodyPr wrap="square" lIns="0" tIns="0" rIns="0" bIns="0" rtlCol="0" anchor="ctr"/>
          <a:lstStyle/>
          <a:p>
            <a:pPr algn="r" indent="0" marL="0">
              <a:buNone/>
            </a:pPr>
            <a:r>
              <a:rPr lang="en-US" sz="750" dirty="0">
                <a:solidFill>
                  <a:srgbClr val="808080"/>
                </a:solidFill>
                <a:latin typeface="Arial" pitchFamily="34" charset="0"/>
                <a:ea typeface="Arial" pitchFamily="34" charset="-122"/>
                <a:cs typeface="Arial" pitchFamily="34" charset="-120"/>
              </a:rPr>
              <a:t>Spot price</a:t>
            </a:r>
            <a:endParaRPr lang="en-US" sz="750" dirty="0"/>
          </a:p>
        </p:txBody>
      </p:sp>
      <p:sp>
        <p:nvSpPr>
          <p:cNvPr id="21" name="Shape 19"/>
          <p:cNvSpPr/>
          <p:nvPr/>
        </p:nvSpPr>
        <p:spPr>
          <a:xfrm>
            <a:off x="3584448" y="2798064"/>
            <a:ext cx="0" cy="393192"/>
          </a:xfrm>
          <a:prstGeom prst="line">
            <a:avLst/>
          </a:prstGeom>
          <a:noFill/>
          <a:ln w="22225">
            <a:solidFill>
              <a:srgbClr val="012060"/>
            </a:solidFill>
            <a:prstDash val="solid"/>
            <a:headEnd type="none"/>
            <a:tailEnd type="triangle"/>
          </a:ln>
        </p:spPr>
      </p:sp>
      <p:sp>
        <p:nvSpPr>
          <p:cNvPr id="22" name="Text 20"/>
          <p:cNvSpPr txBox="1"/>
          <p:nvPr/>
        </p:nvSpPr>
        <p:spPr>
          <a:xfrm>
            <a:off x="2606040" y="2944368"/>
            <a:ext cx="932688" cy="182880"/>
          </a:xfrm>
          <a:prstGeom prst="rect">
            <a:avLst/>
          </a:prstGeom>
          <a:noFill/>
          <a:ln/>
        </p:spPr>
        <p:txBody>
          <a:bodyPr wrap="square" lIns="0" tIns="0" rIns="0" bIns="0" rtlCol="0" anchor="ctr"/>
          <a:lstStyle/>
          <a:p>
            <a:pPr algn="r" indent="0" marL="0">
              <a:buNone/>
            </a:pPr>
            <a:r>
              <a:rPr lang="en-US" sz="750" i="1" dirty="0">
                <a:solidFill>
                  <a:srgbClr val="012060"/>
                </a:solidFill>
                <a:latin typeface="Arial" pitchFamily="34" charset="0"/>
                <a:ea typeface="Arial" pitchFamily="34" charset="-122"/>
                <a:cs typeface="Arial" pitchFamily="34" charset="-120"/>
              </a:rPr>
              <a:t>pulled down</a:t>
            </a:r>
            <a:endParaRPr lang="en-US" sz="750" dirty="0"/>
          </a:p>
        </p:txBody>
      </p:sp>
      <p:sp>
        <p:nvSpPr>
          <p:cNvPr id="23" name="Shape 21"/>
          <p:cNvSpPr/>
          <p:nvPr/>
        </p:nvSpPr>
        <p:spPr>
          <a:xfrm>
            <a:off x="731520" y="3712464"/>
            <a:ext cx="1207008" cy="365760"/>
          </a:xfrm>
          <a:prstGeom prst="rect">
            <a:avLst/>
          </a:prstGeom>
          <a:solidFill>
            <a:srgbClr val="FDF4F4"/>
          </a:solidFill>
          <a:ln w="12700">
            <a:solidFill>
              <a:srgbClr val="C00000"/>
            </a:solidFill>
            <a:prstDash val="solid"/>
          </a:ln>
        </p:spPr>
      </p:sp>
      <p:sp>
        <p:nvSpPr>
          <p:cNvPr id="24" name="Text 22"/>
          <p:cNvSpPr txBox="1"/>
          <p:nvPr/>
        </p:nvSpPr>
        <p:spPr>
          <a:xfrm>
            <a:off x="731520" y="3794760"/>
            <a:ext cx="1207008" cy="219456"/>
          </a:xfrm>
          <a:prstGeom prst="rect">
            <a:avLst/>
          </a:prstGeom>
          <a:noFill/>
          <a:ln/>
        </p:spPr>
        <p:txBody>
          <a:bodyPr wrap="square" lIns="0" tIns="0" rIns="0" bIns="0" rtlCol="0" anchor="ctr"/>
          <a:lstStyle/>
          <a:p>
            <a:pPr algn="ctr" indent="0" marL="0">
              <a:buNone/>
            </a:pPr>
            <a:r>
              <a:rPr lang="en-US" sz="900" b="1" dirty="0">
                <a:solidFill>
                  <a:srgbClr val="C00000"/>
                </a:solidFill>
                <a:latin typeface="Arial" pitchFamily="34" charset="0"/>
                <a:ea typeface="Arial" pitchFamily="34" charset="-122"/>
                <a:cs typeface="Arial" pitchFamily="34" charset="-120"/>
              </a:rPr>
              <a:t>LONGS</a:t>
            </a:r>
            <a:endParaRPr lang="en-US" sz="900" dirty="0"/>
          </a:p>
        </p:txBody>
      </p:sp>
      <p:sp>
        <p:nvSpPr>
          <p:cNvPr id="25" name="Shape 23"/>
          <p:cNvSpPr/>
          <p:nvPr/>
        </p:nvSpPr>
        <p:spPr>
          <a:xfrm>
            <a:off x="2029968" y="3895344"/>
            <a:ext cx="804672" cy="0"/>
          </a:xfrm>
          <a:prstGeom prst="line">
            <a:avLst/>
          </a:prstGeom>
          <a:noFill/>
          <a:ln w="25400">
            <a:solidFill>
              <a:srgbClr val="012060"/>
            </a:solidFill>
            <a:prstDash val="solid"/>
            <a:tailEnd type="triangle"/>
          </a:ln>
        </p:spPr>
      </p:sp>
      <p:sp>
        <p:nvSpPr>
          <p:cNvPr id="26" name="Text 24"/>
          <p:cNvSpPr txBox="1"/>
          <p:nvPr/>
        </p:nvSpPr>
        <p:spPr>
          <a:xfrm>
            <a:off x="1975104" y="4041648"/>
            <a:ext cx="914400" cy="182880"/>
          </a:xfrm>
          <a:prstGeom prst="rect">
            <a:avLst/>
          </a:prstGeom>
          <a:noFill/>
          <a:ln/>
        </p:spPr>
        <p:txBody>
          <a:bodyPr wrap="square" lIns="0" tIns="0" rIns="0" bIns="0" rtlCol="0" anchor="ctr"/>
          <a:lstStyle/>
          <a:p>
            <a:pPr algn="ctr" indent="0" marL="0">
              <a:buNone/>
            </a:pPr>
            <a:r>
              <a:rPr lang="en-US" sz="750" dirty="0">
                <a:solidFill>
                  <a:srgbClr val="012060"/>
                </a:solidFill>
                <a:latin typeface="Arial" pitchFamily="34" charset="0"/>
                <a:ea typeface="Arial" pitchFamily="34" charset="-122"/>
                <a:cs typeface="Arial" pitchFamily="34" charset="-120"/>
              </a:rPr>
              <a:t>pays</a:t>
            </a:r>
            <a:endParaRPr lang="en-US" sz="750" dirty="0"/>
          </a:p>
        </p:txBody>
      </p:sp>
      <p:sp>
        <p:nvSpPr>
          <p:cNvPr id="27" name="Shape 25"/>
          <p:cNvSpPr/>
          <p:nvPr/>
        </p:nvSpPr>
        <p:spPr>
          <a:xfrm>
            <a:off x="2926080" y="3712464"/>
            <a:ext cx="1207008" cy="365760"/>
          </a:xfrm>
          <a:prstGeom prst="rect">
            <a:avLst/>
          </a:prstGeom>
          <a:solidFill>
            <a:srgbClr val="F2F2F2"/>
          </a:solidFill>
          <a:ln w="12700">
            <a:solidFill>
              <a:srgbClr val="808080"/>
            </a:solidFill>
            <a:prstDash val="solid"/>
          </a:ln>
        </p:spPr>
      </p:sp>
      <p:sp>
        <p:nvSpPr>
          <p:cNvPr id="28" name="Text 26"/>
          <p:cNvSpPr txBox="1"/>
          <p:nvPr/>
        </p:nvSpPr>
        <p:spPr>
          <a:xfrm>
            <a:off x="2926080" y="3794760"/>
            <a:ext cx="1207008" cy="219456"/>
          </a:xfrm>
          <a:prstGeom prst="rect">
            <a:avLst/>
          </a:prstGeom>
          <a:noFill/>
          <a:ln/>
        </p:spPr>
        <p:txBody>
          <a:bodyPr wrap="square" lIns="0" tIns="0" rIns="0" bIns="0" rtlCol="0" anchor="ctr"/>
          <a:lstStyle/>
          <a:p>
            <a:pPr algn="ctr" indent="0" marL="0">
              <a:buNone/>
            </a:pPr>
            <a:r>
              <a:rPr lang="en-US" sz="900" b="1" dirty="0">
                <a:solidFill>
                  <a:srgbClr val="404040"/>
                </a:solidFill>
                <a:latin typeface="Arial" pitchFamily="34" charset="0"/>
                <a:ea typeface="Arial" pitchFamily="34" charset="-122"/>
                <a:cs typeface="Arial" pitchFamily="34" charset="-120"/>
              </a:rPr>
              <a:t>SHORTS</a:t>
            </a:r>
            <a:endParaRPr lang="en-US" sz="900" dirty="0"/>
          </a:p>
        </p:txBody>
      </p:sp>
      <p:sp>
        <p:nvSpPr>
          <p:cNvPr id="29" name="Text 27"/>
          <p:cNvSpPr txBox="1"/>
          <p:nvPr/>
        </p:nvSpPr>
        <p:spPr>
          <a:xfrm>
            <a:off x="548640" y="4334256"/>
            <a:ext cx="3794760" cy="402336"/>
          </a:xfrm>
          <a:prstGeom prst="rect">
            <a:avLst/>
          </a:prstGeom>
          <a:noFill/>
          <a:ln/>
        </p:spPr>
        <p:txBody>
          <a:bodyPr wrap="square" lIns="0" tIns="0" rIns="0" bIns="0" rtlCol="0" anchor="ctr"/>
          <a:lstStyle/>
          <a:p>
            <a:pPr algn="ctr" indent="0" marL="0">
              <a:lnSpc>
                <a:spcPct val="115000"/>
              </a:lnSpc>
              <a:buNone/>
            </a:pPr>
            <a:r>
              <a:rPr lang="en-US" sz="800" dirty="0">
                <a:solidFill>
                  <a:srgbClr val="404040"/>
                </a:solidFill>
                <a:latin typeface="Arial" pitchFamily="34" charset="0"/>
                <a:ea typeface="Arial" pitchFamily="34" charset="-122"/>
                <a:cs typeface="Arial" pitchFamily="34" charset="-120"/>
              </a:rPr>
              <a:t>Holding a long costs money every interval. The crowded side pays to stay, which discourages it and drags the perp back toward spot.</a:t>
            </a:r>
            <a:endParaRPr lang="en-US" sz="800" dirty="0"/>
          </a:p>
        </p:txBody>
      </p:sp>
      <p:sp>
        <p:nvSpPr>
          <p:cNvPr id="30" name="Shape 28"/>
          <p:cNvSpPr/>
          <p:nvPr/>
        </p:nvSpPr>
        <p:spPr>
          <a:xfrm>
            <a:off x="4709160" y="2231136"/>
            <a:ext cx="3977640" cy="274320"/>
          </a:xfrm>
          <a:prstGeom prst="rect">
            <a:avLst/>
          </a:prstGeom>
          <a:solidFill>
            <a:srgbClr val="2E7D32"/>
          </a:solidFill>
          <a:ln/>
        </p:spPr>
      </p:sp>
      <p:sp>
        <p:nvSpPr>
          <p:cNvPr id="31" name="Text 29"/>
          <p:cNvSpPr txBox="1"/>
          <p:nvPr/>
        </p:nvSpPr>
        <p:spPr>
          <a:xfrm>
            <a:off x="4709160" y="2258568"/>
            <a:ext cx="397764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Perp trades BELOW spot  —  shorts are crowded</a:t>
            </a:r>
            <a:endParaRPr lang="en-US" sz="900" dirty="0"/>
          </a:p>
        </p:txBody>
      </p:sp>
      <p:sp>
        <p:nvSpPr>
          <p:cNvPr id="32" name="Shape 30"/>
          <p:cNvSpPr/>
          <p:nvPr/>
        </p:nvSpPr>
        <p:spPr>
          <a:xfrm>
            <a:off x="5276088" y="3310128"/>
            <a:ext cx="3108960" cy="0"/>
          </a:xfrm>
          <a:prstGeom prst="line">
            <a:avLst/>
          </a:prstGeom>
          <a:noFill/>
          <a:ln w="28575">
            <a:solidFill>
              <a:srgbClr val="2E7D32"/>
            </a:solidFill>
            <a:prstDash val="solid"/>
          </a:ln>
        </p:spPr>
      </p:sp>
      <p:sp>
        <p:nvSpPr>
          <p:cNvPr id="33" name="Text 31"/>
          <p:cNvSpPr txBox="1"/>
          <p:nvPr/>
        </p:nvSpPr>
        <p:spPr>
          <a:xfrm>
            <a:off x="4727448" y="3209544"/>
            <a:ext cx="566928" cy="182880"/>
          </a:xfrm>
          <a:prstGeom prst="rect">
            <a:avLst/>
          </a:prstGeom>
          <a:noFill/>
          <a:ln/>
        </p:spPr>
        <p:txBody>
          <a:bodyPr wrap="square" lIns="0" tIns="0" rIns="0" bIns="0" rtlCol="0" anchor="ctr"/>
          <a:lstStyle/>
          <a:p>
            <a:pPr algn="r" indent="0" marL="0">
              <a:buNone/>
            </a:pPr>
            <a:r>
              <a:rPr lang="en-US" sz="750" b="1" dirty="0">
                <a:solidFill>
                  <a:srgbClr val="2E7D32"/>
                </a:solidFill>
                <a:latin typeface="Arial" pitchFamily="34" charset="0"/>
                <a:ea typeface="Arial" pitchFamily="34" charset="-122"/>
                <a:cs typeface="Arial" pitchFamily="34" charset="-120"/>
              </a:rPr>
              <a:t>Perp price</a:t>
            </a:r>
            <a:endParaRPr lang="en-US" sz="750" dirty="0"/>
          </a:p>
        </p:txBody>
      </p:sp>
      <p:sp>
        <p:nvSpPr>
          <p:cNvPr id="34" name="Shape 32"/>
          <p:cNvSpPr/>
          <p:nvPr/>
        </p:nvSpPr>
        <p:spPr>
          <a:xfrm>
            <a:off x="5276088" y="2734056"/>
            <a:ext cx="3108960" cy="0"/>
          </a:xfrm>
          <a:prstGeom prst="line">
            <a:avLst/>
          </a:prstGeom>
          <a:noFill/>
          <a:ln w="19050">
            <a:solidFill>
              <a:srgbClr val="808080"/>
            </a:solidFill>
            <a:prstDash val="dash"/>
          </a:ln>
        </p:spPr>
      </p:sp>
      <p:sp>
        <p:nvSpPr>
          <p:cNvPr id="35" name="Text 33"/>
          <p:cNvSpPr txBox="1"/>
          <p:nvPr/>
        </p:nvSpPr>
        <p:spPr>
          <a:xfrm>
            <a:off x="4727448" y="2633472"/>
            <a:ext cx="566928" cy="182880"/>
          </a:xfrm>
          <a:prstGeom prst="rect">
            <a:avLst/>
          </a:prstGeom>
          <a:noFill/>
          <a:ln/>
        </p:spPr>
        <p:txBody>
          <a:bodyPr wrap="square" lIns="0" tIns="0" rIns="0" bIns="0" rtlCol="0" anchor="ctr"/>
          <a:lstStyle/>
          <a:p>
            <a:pPr algn="r" indent="0" marL="0">
              <a:buNone/>
            </a:pPr>
            <a:r>
              <a:rPr lang="en-US" sz="750" dirty="0">
                <a:solidFill>
                  <a:srgbClr val="808080"/>
                </a:solidFill>
                <a:latin typeface="Arial" pitchFamily="34" charset="0"/>
                <a:ea typeface="Arial" pitchFamily="34" charset="-122"/>
                <a:cs typeface="Arial" pitchFamily="34" charset="-120"/>
              </a:rPr>
              <a:t>Spot price</a:t>
            </a:r>
            <a:endParaRPr lang="en-US" sz="750" dirty="0"/>
          </a:p>
        </p:txBody>
      </p:sp>
      <p:sp>
        <p:nvSpPr>
          <p:cNvPr id="36" name="Shape 34"/>
          <p:cNvSpPr/>
          <p:nvPr/>
        </p:nvSpPr>
        <p:spPr>
          <a:xfrm>
            <a:off x="7836408" y="3246120"/>
            <a:ext cx="0" cy="448056"/>
          </a:xfrm>
          <a:prstGeom prst="line">
            <a:avLst/>
          </a:prstGeom>
          <a:noFill/>
          <a:ln w="22225">
            <a:solidFill>
              <a:srgbClr val="012060"/>
            </a:solidFill>
            <a:prstDash val="solid"/>
            <a:headEnd type="triangle"/>
            <a:tailEnd type="none"/>
          </a:ln>
        </p:spPr>
      </p:sp>
      <p:sp>
        <p:nvSpPr>
          <p:cNvPr id="37" name="Text 35"/>
          <p:cNvSpPr txBox="1"/>
          <p:nvPr/>
        </p:nvSpPr>
        <p:spPr>
          <a:xfrm>
            <a:off x="6858000" y="2944368"/>
            <a:ext cx="932688" cy="182880"/>
          </a:xfrm>
          <a:prstGeom prst="rect">
            <a:avLst/>
          </a:prstGeom>
          <a:noFill/>
          <a:ln/>
        </p:spPr>
        <p:txBody>
          <a:bodyPr wrap="square" lIns="0" tIns="0" rIns="0" bIns="0" rtlCol="0" anchor="ctr"/>
          <a:lstStyle/>
          <a:p>
            <a:pPr algn="r" indent="0" marL="0">
              <a:buNone/>
            </a:pPr>
            <a:r>
              <a:rPr lang="en-US" sz="750" i="1" dirty="0">
                <a:solidFill>
                  <a:srgbClr val="012060"/>
                </a:solidFill>
                <a:latin typeface="Arial" pitchFamily="34" charset="0"/>
                <a:ea typeface="Arial" pitchFamily="34" charset="-122"/>
                <a:cs typeface="Arial" pitchFamily="34" charset="-120"/>
              </a:rPr>
              <a:t>pulled up</a:t>
            </a:r>
            <a:endParaRPr lang="en-US" sz="750" dirty="0"/>
          </a:p>
        </p:txBody>
      </p:sp>
      <p:sp>
        <p:nvSpPr>
          <p:cNvPr id="38" name="Shape 36"/>
          <p:cNvSpPr/>
          <p:nvPr/>
        </p:nvSpPr>
        <p:spPr>
          <a:xfrm>
            <a:off x="4983480" y="3712464"/>
            <a:ext cx="1207008" cy="365760"/>
          </a:xfrm>
          <a:prstGeom prst="rect">
            <a:avLst/>
          </a:prstGeom>
          <a:solidFill>
            <a:srgbClr val="EDF5ED"/>
          </a:solidFill>
          <a:ln w="12700">
            <a:solidFill>
              <a:srgbClr val="2E7D32"/>
            </a:solidFill>
            <a:prstDash val="solid"/>
          </a:ln>
        </p:spPr>
      </p:sp>
      <p:sp>
        <p:nvSpPr>
          <p:cNvPr id="39" name="Text 37"/>
          <p:cNvSpPr txBox="1"/>
          <p:nvPr/>
        </p:nvSpPr>
        <p:spPr>
          <a:xfrm>
            <a:off x="4983480" y="3794760"/>
            <a:ext cx="1207008" cy="219456"/>
          </a:xfrm>
          <a:prstGeom prst="rect">
            <a:avLst/>
          </a:prstGeom>
          <a:noFill/>
          <a:ln/>
        </p:spPr>
        <p:txBody>
          <a:bodyPr wrap="square" lIns="0" tIns="0" rIns="0" bIns="0" rtlCol="0" anchor="ctr"/>
          <a:lstStyle/>
          <a:p>
            <a:pPr algn="ctr" indent="0" marL="0">
              <a:buNone/>
            </a:pPr>
            <a:r>
              <a:rPr lang="en-US" sz="900" b="1" dirty="0">
                <a:solidFill>
                  <a:srgbClr val="2E7D32"/>
                </a:solidFill>
                <a:latin typeface="Arial" pitchFamily="34" charset="0"/>
                <a:ea typeface="Arial" pitchFamily="34" charset="-122"/>
                <a:cs typeface="Arial" pitchFamily="34" charset="-120"/>
              </a:rPr>
              <a:t>SHORTS</a:t>
            </a:r>
            <a:endParaRPr lang="en-US" sz="900" dirty="0"/>
          </a:p>
        </p:txBody>
      </p:sp>
      <p:sp>
        <p:nvSpPr>
          <p:cNvPr id="40" name="Shape 38"/>
          <p:cNvSpPr/>
          <p:nvPr/>
        </p:nvSpPr>
        <p:spPr>
          <a:xfrm>
            <a:off x="6281928" y="3895344"/>
            <a:ext cx="804672" cy="0"/>
          </a:xfrm>
          <a:prstGeom prst="line">
            <a:avLst/>
          </a:prstGeom>
          <a:noFill/>
          <a:ln w="25400">
            <a:solidFill>
              <a:srgbClr val="012060"/>
            </a:solidFill>
            <a:prstDash val="solid"/>
            <a:tailEnd type="triangle"/>
          </a:ln>
        </p:spPr>
      </p:sp>
      <p:sp>
        <p:nvSpPr>
          <p:cNvPr id="41" name="Text 39"/>
          <p:cNvSpPr txBox="1"/>
          <p:nvPr/>
        </p:nvSpPr>
        <p:spPr>
          <a:xfrm>
            <a:off x="6227064" y="4041648"/>
            <a:ext cx="914400" cy="182880"/>
          </a:xfrm>
          <a:prstGeom prst="rect">
            <a:avLst/>
          </a:prstGeom>
          <a:noFill/>
          <a:ln/>
        </p:spPr>
        <p:txBody>
          <a:bodyPr wrap="square" lIns="0" tIns="0" rIns="0" bIns="0" rtlCol="0" anchor="ctr"/>
          <a:lstStyle/>
          <a:p>
            <a:pPr algn="ctr" indent="0" marL="0">
              <a:buNone/>
            </a:pPr>
            <a:r>
              <a:rPr lang="en-US" sz="750" dirty="0">
                <a:solidFill>
                  <a:srgbClr val="012060"/>
                </a:solidFill>
                <a:latin typeface="Arial" pitchFamily="34" charset="0"/>
                <a:ea typeface="Arial" pitchFamily="34" charset="-122"/>
                <a:cs typeface="Arial" pitchFamily="34" charset="-120"/>
              </a:rPr>
              <a:t>pays</a:t>
            </a:r>
            <a:endParaRPr lang="en-US" sz="750" dirty="0"/>
          </a:p>
        </p:txBody>
      </p:sp>
      <p:sp>
        <p:nvSpPr>
          <p:cNvPr id="42" name="Shape 40"/>
          <p:cNvSpPr/>
          <p:nvPr/>
        </p:nvSpPr>
        <p:spPr>
          <a:xfrm>
            <a:off x="7178040" y="3712464"/>
            <a:ext cx="1207008" cy="365760"/>
          </a:xfrm>
          <a:prstGeom prst="rect">
            <a:avLst/>
          </a:prstGeom>
          <a:solidFill>
            <a:srgbClr val="F2F2F2"/>
          </a:solidFill>
          <a:ln w="12700">
            <a:solidFill>
              <a:srgbClr val="808080"/>
            </a:solidFill>
            <a:prstDash val="solid"/>
          </a:ln>
        </p:spPr>
      </p:sp>
      <p:sp>
        <p:nvSpPr>
          <p:cNvPr id="43" name="Text 41"/>
          <p:cNvSpPr txBox="1"/>
          <p:nvPr/>
        </p:nvSpPr>
        <p:spPr>
          <a:xfrm>
            <a:off x="7178040" y="3794760"/>
            <a:ext cx="1207008" cy="219456"/>
          </a:xfrm>
          <a:prstGeom prst="rect">
            <a:avLst/>
          </a:prstGeom>
          <a:noFill/>
          <a:ln/>
        </p:spPr>
        <p:txBody>
          <a:bodyPr wrap="square" lIns="0" tIns="0" rIns="0" bIns="0" rtlCol="0" anchor="ctr"/>
          <a:lstStyle/>
          <a:p>
            <a:pPr algn="ctr" indent="0" marL="0">
              <a:buNone/>
            </a:pPr>
            <a:r>
              <a:rPr lang="en-US" sz="900" b="1" dirty="0">
                <a:solidFill>
                  <a:srgbClr val="404040"/>
                </a:solidFill>
                <a:latin typeface="Arial" pitchFamily="34" charset="0"/>
                <a:ea typeface="Arial" pitchFamily="34" charset="-122"/>
                <a:cs typeface="Arial" pitchFamily="34" charset="-120"/>
              </a:rPr>
              <a:t>LONGS</a:t>
            </a:r>
            <a:endParaRPr lang="en-US" sz="900" dirty="0"/>
          </a:p>
        </p:txBody>
      </p:sp>
      <p:sp>
        <p:nvSpPr>
          <p:cNvPr id="44" name="Text 42"/>
          <p:cNvSpPr txBox="1"/>
          <p:nvPr/>
        </p:nvSpPr>
        <p:spPr>
          <a:xfrm>
            <a:off x="4800600" y="4334256"/>
            <a:ext cx="3794760" cy="402336"/>
          </a:xfrm>
          <a:prstGeom prst="rect">
            <a:avLst/>
          </a:prstGeom>
          <a:noFill/>
          <a:ln/>
        </p:spPr>
        <p:txBody>
          <a:bodyPr wrap="square" lIns="0" tIns="0" rIns="0" bIns="0" rtlCol="0" anchor="ctr"/>
          <a:lstStyle/>
          <a:p>
            <a:pPr algn="ctr" indent="0" marL="0">
              <a:lnSpc>
                <a:spcPct val="115000"/>
              </a:lnSpc>
              <a:buNone/>
            </a:pPr>
            <a:r>
              <a:rPr lang="en-US" sz="800" dirty="0">
                <a:solidFill>
                  <a:srgbClr val="404040"/>
                </a:solidFill>
                <a:latin typeface="Arial" pitchFamily="34" charset="0"/>
                <a:ea typeface="Arial" pitchFamily="34" charset="-122"/>
                <a:cs typeface="Arial" pitchFamily="34" charset="-120"/>
              </a:rPr>
              <a:t>The mechanism is symmetric. Whichever side is crowded pays the other, so the funding rate is a continuous, self-correcting tether.</a:t>
            </a:r>
            <a:endParaRPr lang="en-US" sz="800" dirty="0"/>
          </a:p>
        </p:txBody>
      </p:sp>
      <p:sp>
        <p:nvSpPr>
          <p:cNvPr id="45" name="Shape 43"/>
          <p:cNvSpPr/>
          <p:nvPr/>
        </p:nvSpPr>
        <p:spPr>
          <a:xfrm>
            <a:off x="457200" y="4864608"/>
            <a:ext cx="8229600" cy="841248"/>
          </a:xfrm>
          <a:prstGeom prst="rect">
            <a:avLst/>
          </a:prstGeom>
          <a:solidFill>
            <a:srgbClr val="F4F7FB"/>
          </a:solidFill>
          <a:ln w="12700">
            <a:solidFill>
              <a:srgbClr val="012060"/>
            </a:solidFill>
            <a:prstDash val="dash"/>
          </a:ln>
        </p:spPr>
      </p:sp>
      <p:sp>
        <p:nvSpPr>
          <p:cNvPr id="46" name="Text 44"/>
          <p:cNvSpPr txBox="1"/>
          <p:nvPr/>
        </p:nvSpPr>
        <p:spPr>
          <a:xfrm>
            <a:off x="585216" y="4946904"/>
            <a:ext cx="7973568" cy="182880"/>
          </a:xfrm>
          <a:prstGeom prst="rect">
            <a:avLst/>
          </a:prstGeom>
          <a:noFill/>
          <a:ln/>
        </p:spPr>
        <p:txBody>
          <a:bodyPr wrap="square" lIns="0" tIns="0" rIns="0" bIns="0" rtlCol="0" anchor="ctr"/>
          <a:lstStyle/>
          <a:p>
            <a:pPr indent="0" marL="0">
              <a:buNone/>
            </a:pPr>
            <a:r>
              <a:rPr lang="en-US" sz="900" b="1" dirty="0">
                <a:solidFill>
                  <a:srgbClr val="012060"/>
                </a:solidFill>
                <a:latin typeface="Arial" pitchFamily="34" charset="0"/>
                <a:ea typeface="Arial" pitchFamily="34" charset="-122"/>
                <a:cs typeface="Arial" pitchFamily="34" charset="-120"/>
              </a:rPr>
              <a:t>Worked example: funding is a real cost, and it is separate from trading fees</a:t>
            </a:r>
            <a:endParaRPr lang="en-US" sz="900" dirty="0"/>
          </a:p>
        </p:txBody>
      </p:sp>
      <p:sp>
        <p:nvSpPr>
          <p:cNvPr id="47" name="Text 45"/>
          <p:cNvSpPr txBox="1"/>
          <p:nvPr/>
        </p:nvSpPr>
        <p:spPr>
          <a:xfrm>
            <a:off x="585216" y="5148072"/>
            <a:ext cx="7973568" cy="475488"/>
          </a:xfrm>
          <a:prstGeom prst="rect">
            <a:avLst/>
          </a:prstGeom>
          <a:noFill/>
          <a:ln/>
        </p:spPr>
        <p:txBody>
          <a:bodyPr wrap="square" lIns="0" tIns="0" rIns="0" bIns="0" rtlCol="0" anchor="t"/>
          <a:lstStyle/>
          <a:p>
            <a:pPr indent="0" marL="0">
              <a:lnSpc>
                <a:spcPct val="116000"/>
              </a:lnSpc>
              <a:buNone/>
            </a:pPr>
            <a:r>
              <a:rPr lang="en-US" sz="850" dirty="0">
                <a:solidFill>
                  <a:srgbClr val="000000"/>
                </a:solidFill>
                <a:latin typeface="Arial" pitchFamily="34" charset="0"/>
                <a:ea typeface="Arial" pitchFamily="34" charset="-122"/>
                <a:cs typeface="Arial" pitchFamily="34" charset="-120"/>
              </a:rPr>
              <a:t>A $10,000 long at +0.01% funding per 8 hours pays $1.00 per interval, $3.00 per day, roughly $1,095 per year. On $1,000 of margin at 10x, that is over 100% of the posted collateral annually. Funding flows between traders rather than to the venue, so it does not appear in exchange revenue — but it frequently exceeds trading fees and determines whether a position is survivable. Any analysis that models fees and ignores funding understates the cost of carry.</a:t>
            </a:r>
            <a:endParaRPr lang="en-US" sz="850" dirty="0"/>
          </a:p>
        </p:txBody>
      </p:sp>
      <p:sp>
        <p:nvSpPr>
          <p:cNvPr id="48" name="Text 46"/>
          <p:cNvSpPr txBox="1"/>
          <p:nvPr/>
        </p:nvSpPr>
        <p:spPr>
          <a:xfrm>
            <a:off x="457200" y="5833872"/>
            <a:ext cx="8229600" cy="457200"/>
          </a:xfrm>
          <a:prstGeom prst="rect">
            <a:avLst/>
          </a:prstGeom>
          <a:noFill/>
          <a:ln/>
        </p:spPr>
        <p:txBody>
          <a:bodyPr wrap="square" lIns="0" tIns="0" rIns="0" bIns="0" rtlCol="0" anchor="t"/>
          <a:lstStyle/>
          <a:p>
            <a:pPr indent="0" marL="0">
              <a:lnSpc>
                <a:spcPct val="115000"/>
              </a:lnSpc>
              <a:buNone/>
            </a:pPr>
            <a:r>
              <a:rPr lang="en-US" sz="700" i="1" dirty="0">
                <a:solidFill>
                  <a:srgbClr val="7F7F7F"/>
                </a:solidFill>
                <a:latin typeface="Arial" pitchFamily="34" charset="0"/>
                <a:ea typeface="Arial" pitchFamily="34" charset="-122"/>
                <a:cs typeface="Arial" pitchFamily="34" charset="-120"/>
              </a:rPr>
              <a:t>Note: funding intervals vary by venue — commonly every eight hours, and hourly on some order-book venues. The +0.01% rate used above is illustrative of a typical level, not a forecast; funding is set by market imbalance and can turn sharply negative. Under the Commodity Exchange Act, a futures contract is defined by reference to a delivery or expiry date, which is the reason perpetuals sat outside the US regulatory perimeter until 2026.</a:t>
            </a:r>
            <a:endParaRPr lang="en-US" sz="700" dirty="0"/>
          </a:p>
          <a:p>
            <a:pPr indent="0" marL="0">
              <a:lnSpc>
                <a:spcPct val="115000"/>
              </a:lnSpc>
              <a:buNone/>
            </a:pPr>
            <a:r>
              <a:rPr lang="en-US" sz="700" i="1" dirty="0">
                <a:solidFill>
                  <a:srgbClr val="7F7F7F"/>
                </a:solidFill>
                <a:latin typeface="Arial" pitchFamily="34" charset="0"/>
                <a:ea typeface="Arial" pitchFamily="34" charset="-122"/>
                <a:cs typeface="Arial" pitchFamily="34" charset="-120"/>
              </a:rPr>
              <a:t>Source: Exchange documentation, CoinGecko 2025 annual derivatives report; author analysis.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863840" y="6446520"/>
            <a:ext cx="822960" cy="182880"/>
          </a:xfrm>
          <a:prstGeom prst="rect">
            <a:avLst/>
          </a:prstGeom>
          <a:noFill/>
          <a:ln/>
        </p:spPr>
        <p:txBody>
          <a:bodyPr wrap="square" lIns="0" tIns="0" rIns="0" bIns="0" rtlCol="0" anchor="ctr"/>
          <a:lstStyle/>
          <a:p>
            <a:pPr algn="r" indent="0" marL="0">
              <a:buNone/>
            </a:pPr>
            <a:r>
              <a:rPr lang="en-US" sz="800" dirty="0">
                <a:solidFill>
                  <a:srgbClr val="808080"/>
                </a:solidFill>
                <a:latin typeface="Arial" pitchFamily="34" charset="0"/>
                <a:ea typeface="Arial" pitchFamily="34" charset="-122"/>
                <a:cs typeface="Arial" pitchFamily="34" charset="-120"/>
              </a:rPr>
              <a:t>2</a:t>
            </a:r>
            <a:endParaRPr lang="en-US" sz="800" dirty="0"/>
          </a:p>
        </p:txBody>
      </p:sp>
      <p:sp>
        <p:nvSpPr>
          <p:cNvPr id="3" name="Text 1"/>
          <p:cNvSpPr txBox="1"/>
          <p:nvPr/>
        </p:nvSpPr>
        <p:spPr>
          <a:xfrm>
            <a:off x="457200" y="292608"/>
            <a:ext cx="8229600" cy="566928"/>
          </a:xfrm>
          <a:prstGeom prst="rect">
            <a:avLst/>
          </a:prstGeom>
          <a:noFill/>
          <a:ln/>
        </p:spPr>
        <p:txBody>
          <a:bodyPr wrap="square" lIns="0" tIns="0" rIns="0" bIns="0" rtlCol="0" anchor="t"/>
          <a:lstStyle/>
          <a:p>
            <a:pPr indent="0" marL="0">
              <a:lnSpc>
                <a:spcPct val="112000"/>
              </a:lnSpc>
              <a:buNone/>
            </a:pPr>
            <a:r>
              <a:rPr lang="en-US" sz="1600" b="1" dirty="0">
                <a:solidFill>
                  <a:srgbClr val="000000"/>
                </a:solidFill>
                <a:latin typeface="Arial" pitchFamily="34" charset="0"/>
                <a:ea typeface="Arial" pitchFamily="34" charset="-122"/>
                <a:cs typeface="Arial" pitchFamily="34" charset="-120"/>
              </a:rPr>
              <a:t>Removing the expiry date concentrates liquidity, kills roll cost, and lets a market exist wherever there is a price feed</a:t>
            </a:r>
            <a:endParaRPr lang="en-US" sz="1600" dirty="0"/>
          </a:p>
        </p:txBody>
      </p:sp>
      <p:sp>
        <p:nvSpPr>
          <p:cNvPr id="4" name="Text 2"/>
          <p:cNvSpPr txBox="1"/>
          <p:nvPr/>
        </p:nvSpPr>
        <p:spPr>
          <a:xfrm>
            <a:off x="457200" y="896112"/>
            <a:ext cx="8229600" cy="21945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The last of those is the structural change — a perp needs only a reliable oracle, not a deliverable asset</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17320"/>
                <a:gridCol w="2331720"/>
                <a:gridCol w="1965960"/>
                <a:gridCol w="2514600"/>
              </a:tblGrid>
              <a:tr h="274320">
                <a:tc>
                  <a:txBody>
                    <a:bodyPr/>
                    <a:lstStyle/>
                    <a:p>
                      <a:pPr algn="l" indent="0" marL="0">
                        <a:buNone/>
                      </a:pPr>
                      <a:endParaRPr lang="en-US" sz="90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Traditional future</a:t>
                      </a:r>
                      <a:endParaRPr lang="en-US" sz="90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12060"/>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Perpetual</a:t>
                      </a:r>
                      <a:endParaRPr lang="en-US" sz="90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12060"/>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Why it matters</a:t>
                      </a:r>
                      <a:endParaRPr lang="en-US" sz="90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12060"/>
                    </a:solidFill>
                  </a:tcPr>
                </a:tc>
              </a:tr>
              <a:tr h="402336">
                <a:tc>
                  <a:txBody>
                    <a:bodyPr/>
                    <a:lstStyle/>
                    <a:p>
                      <a:pPr algn="l" indent="0" marL="0">
                        <a:buNone/>
                      </a:pPr>
                      <a:r>
                        <a:rPr lang="en-US" sz="850" b="1" dirty="0">
                          <a:solidFill>
                            <a:srgbClr val="000000"/>
                          </a:solidFill>
                          <a:latin typeface="Arial" pitchFamily="34" charset="0"/>
                          <a:ea typeface="Arial" pitchFamily="34" charset="-122"/>
                          <a:cs typeface="Arial" pitchFamily="34" charset="-120"/>
                        </a:rPr>
                        <a:t>Expiry</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Fixed settlement date; positions must be rolled</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None</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No roll cost, no calendar-spread management, no expiry gap risk</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02336">
                <a:tc>
                  <a:txBody>
                    <a:bodyPr/>
                    <a:lstStyle/>
                    <a:p>
                      <a:pPr algn="l" indent="0" marL="0">
                        <a:buNone/>
                      </a:pPr>
                      <a:r>
                        <a:rPr lang="en-US" sz="850" b="1" dirty="0">
                          <a:solidFill>
                            <a:srgbClr val="000000"/>
                          </a:solidFill>
                          <a:latin typeface="Arial" pitchFamily="34" charset="0"/>
                          <a:ea typeface="Arial" pitchFamily="34" charset="-122"/>
                          <a:cs typeface="Arial" pitchFamily="34" charset="-120"/>
                        </a:rPr>
                        <a:t>Liquidity</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Splits across Mar / Jun / Sep / Dec contracts</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One continuous contract</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All depth sits in a single book, which tightens spreads</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02336">
                <a:tc>
                  <a:txBody>
                    <a:bodyPr/>
                    <a:lstStyle/>
                    <a:p>
                      <a:pPr algn="l" indent="0" marL="0">
                        <a:buNone/>
                      </a:pPr>
                      <a:r>
                        <a:rPr lang="en-US" sz="850" b="1" dirty="0">
                          <a:solidFill>
                            <a:srgbClr val="000000"/>
                          </a:solidFill>
                          <a:latin typeface="Arial" pitchFamily="34" charset="0"/>
                          <a:ea typeface="Arial" pitchFamily="34" charset="-122"/>
                          <a:cs typeface="Arial" pitchFamily="34" charset="-120"/>
                        </a:rPr>
                        <a:t>Price tracking</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Basis drifts; converges only at expiry</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Funding pulls to spot continuously</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Tracks the underlying tightly at every point, not just at settlement</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000000"/>
                          </a:solidFill>
                          <a:latin typeface="Arial" pitchFamily="34" charset="0"/>
                          <a:ea typeface="Arial" pitchFamily="34" charset="-122"/>
                          <a:cs typeface="Arial" pitchFamily="34" charset="-120"/>
                        </a:rPr>
                        <a:t>Access</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Futures brokerage account; E-mini S&amp;P margin from ~$12,000 per contract</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Wallet and stablecoin collateral; fractional sizing</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Materially lower minimum ticket</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02336">
                <a:tc>
                  <a:txBody>
                    <a:bodyPr/>
                    <a:lstStyle/>
                    <a:p>
                      <a:pPr algn="l" indent="0" marL="0">
                        <a:buNone/>
                      </a:pPr>
                      <a:r>
                        <a:rPr lang="en-US" sz="850" b="1" dirty="0">
                          <a:solidFill>
                            <a:srgbClr val="000000"/>
                          </a:solidFill>
                          <a:latin typeface="Arial" pitchFamily="34" charset="0"/>
                          <a:ea typeface="Arial" pitchFamily="34" charset="-122"/>
                          <a:cs typeface="Arial" pitchFamily="34" charset="-120"/>
                        </a:rPr>
                        <a:t>Hours</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Defined exchange sessions</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24/7, including weekends</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Weekend and off-hours events are tradeable rather than gapped through</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850" b="1" dirty="0">
                          <a:solidFill>
                            <a:srgbClr val="000000"/>
                          </a:solidFill>
                          <a:latin typeface="Arial" pitchFamily="34" charset="0"/>
                          <a:ea typeface="Arial" pitchFamily="34" charset="-122"/>
                          <a:cs typeface="Arial" pitchFamily="34" charset="-120"/>
                        </a:rPr>
                        <a:t>What it needs to exist</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8F1E8"/>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A defined deliverable, or a cash-settlement source</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8F1E8"/>
                    </a:solidFill>
                  </a:tcPr>
                </a:tc>
                <a:tc>
                  <a:txBody>
                    <a:bodyPr/>
                    <a:lstStyle/>
                    <a:p>
                      <a:pPr algn="l" indent="0" marL="0">
                        <a:buNone/>
                      </a:pPr>
                      <a:r>
                        <a:rPr lang="en-US" sz="850" b="1" dirty="0">
                          <a:solidFill>
                            <a:srgbClr val="012060"/>
                          </a:solidFill>
                          <a:latin typeface="Arial" pitchFamily="34" charset="0"/>
                          <a:ea typeface="Arial" pitchFamily="34" charset="-122"/>
                          <a:cs typeface="Arial" pitchFamily="34" charset="-120"/>
                        </a:rPr>
                        <a:t>A reliable oracle price</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8F1E8"/>
                    </a:solidFill>
                  </a:tcPr>
                </a:tc>
                <a:tc>
                  <a:txBody>
                    <a:bodyPr/>
                    <a:lstStyle/>
                    <a:p>
                      <a:pPr algn="l" indent="0" marL="0">
                        <a:buNone/>
                      </a:pPr>
                      <a:r>
                        <a:rPr lang="en-US" sz="850" dirty="0">
                          <a:solidFill>
                            <a:srgbClr val="000000"/>
                          </a:solidFill>
                          <a:latin typeface="Arial" pitchFamily="34" charset="0"/>
                          <a:ea typeface="Arial" pitchFamily="34" charset="-122"/>
                          <a:cs typeface="Arial" pitchFamily="34" charset="-120"/>
                        </a:rPr>
                        <a:t>Markets can be created for assets with no tradeable float at all</a:t>
                      </a:r>
                      <a:endParaRPr lang="en-US" sz="850" dirty="0">
                        <a:latin typeface="Arial" charset="0"/>
                        <a:ea typeface="Arial" charset="0"/>
                        <a:cs typeface="Arial" charset="0"/>
                      </a:endParaRPr>
                    </a:p>
                  </a:txBody>
                  <a:tcPr marL="63500" marR="63500" marT="38100" marB="381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8F1E8"/>
                    </a:solidFill>
                  </a:tcPr>
                </a:tc>
              </a:tr>
            </a:tbl>
          </a:graphicData>
        </a:graphic>
      </p:graphicFrame>
      <p:sp>
        <p:nvSpPr>
          <p:cNvPr id="6" name="Shape 3"/>
          <p:cNvSpPr/>
          <p:nvPr/>
        </p:nvSpPr>
        <p:spPr>
          <a:xfrm>
            <a:off x="457200" y="3931920"/>
            <a:ext cx="8229600" cy="1481328"/>
          </a:xfrm>
          <a:prstGeom prst="rect">
            <a:avLst/>
          </a:prstGeom>
          <a:solidFill>
            <a:srgbClr val="FDF4F4"/>
          </a:solidFill>
          <a:ln w="12700">
            <a:solidFill>
              <a:srgbClr val="C00000"/>
            </a:solidFill>
            <a:prstDash val="dash"/>
          </a:ln>
        </p:spPr>
      </p:sp>
      <p:sp>
        <p:nvSpPr>
          <p:cNvPr id="7" name="Text 4"/>
          <p:cNvSpPr txBox="1"/>
          <p:nvPr/>
        </p:nvSpPr>
        <p:spPr>
          <a:xfrm>
            <a:off x="585216" y="4014216"/>
            <a:ext cx="7973568" cy="182880"/>
          </a:xfrm>
          <a:prstGeom prst="rect">
            <a:avLst/>
          </a:prstGeom>
          <a:noFill/>
          <a:ln/>
        </p:spPr>
        <p:txBody>
          <a:bodyPr wrap="square" lIns="0" tIns="0" rIns="0" bIns="0" rtlCol="0" anchor="ctr"/>
          <a:lstStyle/>
          <a:p>
            <a:pPr indent="0" marL="0">
              <a:buNone/>
            </a:pPr>
            <a:r>
              <a:rPr lang="en-US" sz="900" b="1" dirty="0">
                <a:solidFill>
                  <a:srgbClr val="C00000"/>
                </a:solidFill>
                <a:latin typeface="Arial" pitchFamily="34" charset="0"/>
                <a:ea typeface="Arial" pitchFamily="34" charset="-122"/>
                <a:cs typeface="Arial" pitchFamily="34" charset="-120"/>
              </a:rPr>
              <a:t>Illustrative use case: pre-IPO equity — and the clearest illustration of the trade-off</a:t>
            </a:r>
            <a:endParaRPr lang="en-US" sz="900" dirty="0"/>
          </a:p>
        </p:txBody>
      </p:sp>
      <p:sp>
        <p:nvSpPr>
          <p:cNvPr id="8" name="Text 5"/>
          <p:cNvSpPr txBox="1"/>
          <p:nvPr/>
        </p:nvSpPr>
        <p:spPr>
          <a:xfrm>
            <a:off x="585216" y="4215384"/>
            <a:ext cx="7973568" cy="1115568"/>
          </a:xfrm>
          <a:prstGeom prst="rect">
            <a:avLst/>
          </a:prstGeom>
          <a:noFill/>
          <a:ln/>
        </p:spPr>
        <p:txBody>
          <a:bodyPr wrap="square" lIns="0" tIns="0" rIns="0" bIns="0" rtlCol="0" anchor="t"/>
          <a:lstStyle/>
          <a:p>
            <a:pPr indent="0" marL="0">
              <a:lnSpc>
                <a:spcPct val="116000"/>
              </a:lnSpc>
              <a:buNone/>
            </a:pPr>
            <a:r>
              <a:rPr lang="en-US" sz="850" dirty="0">
                <a:solidFill>
                  <a:srgbClr val="000000"/>
                </a:solidFill>
                <a:latin typeface="Arial" pitchFamily="34" charset="0"/>
                <a:ea typeface="Arial" pitchFamily="34" charset="-122"/>
                <a:cs typeface="Arial" pitchFamily="34" charset="-120"/>
              </a:rPr>
              <a:t>Private company equity has no continuous public price, no float to borrow, and no practical way to take a short position. A traditional future cannot easily be written on it because there is no deliverable and no settlement source. A perpetual can, because it needs only an oracle. A SpaceX-referencing contract (SPCX) trades on this basis today.</a:t>
            </a:r>
            <a:endParaRPr lang="en-US" sz="850" dirty="0"/>
          </a:p>
          <a:p>
            <a:pPr indent="0" marL="0">
              <a:lnSpc>
                <a:spcPct val="116000"/>
              </a:lnSpc>
              <a:buNone/>
            </a:pPr>
            <a:endParaRPr lang="en-US" sz="850" dirty="0"/>
          </a:p>
          <a:p>
            <a:pPr indent="0" marL="0">
              <a:lnSpc>
                <a:spcPct val="116000"/>
              </a:lnSpc>
              <a:buNone/>
            </a:pPr>
            <a:r>
              <a:rPr lang="en-US" sz="850" dirty="0">
                <a:solidFill>
                  <a:srgbClr val="000000"/>
                </a:solidFill>
                <a:latin typeface="Arial" pitchFamily="34" charset="0"/>
                <a:ea typeface="Arial" pitchFamily="34" charset="-122"/>
                <a:cs typeface="Arial" pitchFamily="34" charset="-120"/>
              </a:rPr>
              <a:t>The same feature is the risk. Because no arbitrage against a real underlying is possible, the oracle is the only anchor and depth is thin. A flash crash in the SPACEX-USDH contract wiped out roughly $1.5m of notional within 30 minutes after a single outsized position absorbed the market's available liquidity. Synthetic exposure without a deliverable removes the constraint and the discipline at the same time.</a:t>
            </a:r>
            <a:endParaRPr lang="en-US" sz="850" dirty="0"/>
          </a:p>
        </p:txBody>
      </p:sp>
      <p:sp>
        <p:nvSpPr>
          <p:cNvPr id="9" name="Text 6"/>
          <p:cNvSpPr txBox="1"/>
          <p:nvPr/>
        </p:nvSpPr>
        <p:spPr>
          <a:xfrm>
            <a:off x="457200" y="5541264"/>
            <a:ext cx="8229600" cy="457200"/>
          </a:xfrm>
          <a:prstGeom prst="rect">
            <a:avLst/>
          </a:prstGeom>
          <a:noFill/>
          <a:ln/>
        </p:spPr>
        <p:txBody>
          <a:bodyPr wrap="square" lIns="0" tIns="0" rIns="0" bIns="0" rtlCol="0" anchor="t"/>
          <a:lstStyle/>
          <a:p>
            <a:pPr indent="0" marL="0">
              <a:lnSpc>
                <a:spcPct val="115000"/>
              </a:lnSpc>
              <a:buNone/>
            </a:pPr>
            <a:r>
              <a:rPr lang="en-US" sz="700" i="1" dirty="0">
                <a:solidFill>
                  <a:srgbClr val="7F7F7F"/>
                </a:solidFill>
                <a:latin typeface="Arial" pitchFamily="34" charset="0"/>
                <a:ea typeface="Arial" pitchFamily="34" charset="-122"/>
                <a:cs typeface="Arial" pitchFamily="34" charset="-120"/>
              </a:rPr>
              <a:t>Note: E-mini S&amp;P 500 margin requirement is indicative and set by the exchange; it varies with volatility. Pre-IPO perpetual contracts reference a third-party valuation rather than a traded price, so the contract tracks the oracle, not the company. Funding cost, liquidation risk and oracle dependence are the offsetting disadvantages of the perpetual structure and should be read alongside the advantages above.</a:t>
            </a:r>
            <a:endParaRPr lang="en-US" sz="700" dirty="0"/>
          </a:p>
          <a:p>
            <a:pPr indent="0" marL="0">
              <a:lnSpc>
                <a:spcPct val="115000"/>
              </a:lnSpc>
              <a:buNone/>
            </a:pPr>
            <a:r>
              <a:rPr lang="en-US" sz="700" i="1" dirty="0">
                <a:solidFill>
                  <a:srgbClr val="7F7F7F"/>
                </a:solidFill>
                <a:latin typeface="Arial" pitchFamily="34" charset="0"/>
                <a:ea typeface="Arial" pitchFamily="34" charset="-122"/>
                <a:cs typeface="Arial" pitchFamily="34" charset="-120"/>
              </a:rPr>
              <a:t>Source: Exchange documentation and contract specifications, contemporaneous market reporting; author analysis.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2026-08-27T06:39:25Z</dcterms:created>
  <dcterms:modified xsi:type="dcterms:W3CDTF">2026-08-27T06:39:25Z</dcterms:modified>
</cp:coreProperties>
</file>